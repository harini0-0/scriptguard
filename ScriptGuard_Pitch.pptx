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107a949f-42fb-4138-0f6f-ef6e8a0d939a}">
          <p14:sldIdLst>
            <p14:sldId id="256"/>
            <p14:sldId id="257"/>
            <p14:sldId id="258"/>
            <p14:sldId id="259"/>
            <p14:sldId id="260"/>
            <p14:sldId id="261"/>
          </p14:sldIdLst>
        </p14:section>
        <p14:section name="Backup" id="{a926ff2f-be68-aedc-1069-beb4c7e3f26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ScriptGuard. One extra zero, ten times the dose. A patient leaves the hospital: the discharge summary says gabapentin 300 milligrams, the prescription says 3,000. Nobody notices. ScriptGuard catches it before it reaches the patient. (12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one hospital's problem. A review of 54 studies across 26 countries, most of them in the US, found about half of patients leave the hospital with at least one unintentional medication discrepancy. In critically ill older adults, these discrepancies were linked to twice the risk of an emergency visit within a month. It's a Joint Commission safety goal, and it's still checked by hand. Catching these earlier prevents real harm.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on real documents. A dose error: gabapentin 300 in the summary, 3,000 on the prescription, flagged with both lines side by side. A stopped drug still prescribed: warfarin, flagged. And a clean case: no discrepancies found by the checks run. Scan the code to watch the full demo.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reads; it never does the math or makes the call. OCR and a local model extract every medication, every number is verified against the source, and deterministic rules flag mismatches. The pharmacist always decides. It all runs as an OpenClaw agent inside an NVIDIA OpenShell sandbox on one Dell GB10: no internet, and patient data never leaves the machine. (22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37 synthetic test cases, including cases built from Synthea patient records and tested as text, PDF, and scans, the checking engine caught 20 of 25 errors with zero false alarms. Every miss was a home-medication or frequency error, which is exactly our next step. If asked: these were measured with verified extractions; live-model results on the GB10 are in progress.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ScriptGuard is built for every place discharge paperwork lands: nursing homes, pharmacies, and small hospitals receiving documents from many systems. There are over 5,000 community hospitals in the US alone, and because it works on documents rather than one EHR, it can extend across health systems and countries. Next: home medication and frequency checks, recognizing intentional changes, handwriting, and FHIR. In one pilot, pharmacist discharge review avoided about $67,000 for $816 of pharmacist time. ScriptGuard helps pharmacists do that review faster.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references with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link.springer.com/article/10.1007/s40264-020-00918-3" TargetMode="External"/><Relationship Id="rId2" Type="http://schemas.openxmlformats.org/officeDocument/2006/relationships/hyperlink" Target="https://www.ncbi.nlm.nih.gov/pmc/articles/PMC11654400/" TargetMode="External"/><Relationship Id="rId3" Type="http://schemas.openxmlformats.org/officeDocument/2006/relationships/hyperlink" Target="https://digitalassets.jointcommission.org/api/public/content/844857809e384b85b6275c4dcc75900b" TargetMode="External"/><Relationship Id="rId4" Type="http://schemas.openxmlformats.org/officeDocument/2006/relationships/hyperlink" Target="https://shmabstracts.org/abstract/pharmacist-discharge-medication-review-prevents-errors-and-potential-patient-harm/" TargetMode="External"/><Relationship Id="rId5" Type="http://schemas.openxmlformats.org/officeDocument/2006/relationships/hyperlink" Target="https://www.aha.org/statistics/fast-facts-us-hospitals" TargetMode="External"/><Relationship Id="rId6" Type="http://schemas.openxmlformats.org/officeDocument/2006/relationships/hyperlink" Target="https://docs.nvidia.com/nemoclaw/user-guide/openclaw/home" TargetMode="External"/><Relationship Id="rId7" Type="http://schemas.openxmlformats.org/officeDocument/2006/relationships/hyperlink" Target="https://synthea.mitre.org/downloads" TargetMode="External"/><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tegory tag"/>
          <p:cNvSpPr txBox="1"/>
          <p:nvPr/>
        </p:nvSpPr>
        <p:spPr>
          <a:xfrm>
            <a:off x="548640" y="685800"/>
            <a:ext cx="274320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DISCHARGE MEDICATION SAFETY</a:t>
            </a:r>
            <a:endParaRPr lang="en-US" sz="1100" dirty="0"/>
          </a:p>
        </p:txBody>
      </p:sp>
      <p:sp>
        <p:nvSpPr>
          <p:cNvPr id="3" name="Brand"/>
          <p:cNvSpPr txBox="1"/>
          <p:nvPr/>
        </p:nvSpPr>
        <p:spPr>
          <a:xfrm>
            <a:off x="548640" y="1188720"/>
            <a:ext cx="4572000" cy="914400"/>
          </a:xfrm>
          <a:prstGeom prst="rect">
            <a:avLst/>
          </a:prstGeom>
          <a:noFill/>
          <a:ln/>
        </p:spPr>
        <p:txBody>
          <a:bodyPr wrap="square" lIns="0" tIns="0" rIns="0" bIns="0" rtlCol="0" anchor="ctr"/>
          <a:lstStyle/>
          <a:p>
            <a:pPr indent="0" marL="0">
              <a:buNone/>
            </a:pPr>
            <a:r>
              <a:rPr lang="en-US" sz="5600" b="1" dirty="0">
                <a:solidFill>
                  <a:schemeClr val="bg1"/>
                </a:solidFill>
                <a:latin typeface="Cambria" pitchFamily="34" charset="0"/>
                <a:ea typeface="Cambria" pitchFamily="34" charset="-122"/>
                <a:cs typeface="Cambria" pitchFamily="34" charset="-120"/>
              </a:rPr>
              <a:t>ScriptGuard</a:t>
            </a:r>
            <a:endParaRPr lang="en-US" sz="5600" dirty="0"/>
          </a:p>
        </p:txBody>
      </p:sp>
      <p:sp>
        <p:nvSpPr>
          <p:cNvPr id="4" name="Tagline"/>
          <p:cNvSpPr txBox="1"/>
          <p:nvPr/>
        </p:nvSpPr>
        <p:spPr>
          <a:xfrm>
            <a:off x="548640" y="2240280"/>
            <a:ext cx="4572000" cy="457200"/>
          </a:xfrm>
          <a:prstGeom prst="rect">
            <a:avLst/>
          </a:prstGeom>
          <a:noFill/>
          <a:ln/>
        </p:spPr>
        <p:txBody>
          <a:bodyPr wrap="square" lIns="0" tIns="0" rIns="0" bIns="0" rtlCol="0" anchor="ctr"/>
          <a:lstStyle/>
          <a:p>
            <a:pPr indent="0" marL="0">
              <a:buNone/>
            </a:pPr>
            <a:r>
              <a:rPr lang="en-US" sz="2200" b="1" dirty="0">
                <a:solidFill>
                  <a:schemeClr val="accent6"/>
                </a:solidFill>
                <a:latin typeface="Cambria" pitchFamily="34" charset="0"/>
                <a:ea typeface="Cambria" pitchFamily="34" charset="-122"/>
                <a:cs typeface="Cambria" pitchFamily="34" charset="-120"/>
              </a:rPr>
              <a:t>One extra zero. Ten times the dose.</a:t>
            </a:r>
            <a:endParaRPr lang="en-US" sz="2200" dirty="0"/>
          </a:p>
        </p:txBody>
      </p:sp>
      <p:sp>
        <p:nvSpPr>
          <p:cNvPr id="5" name="Tagline 2"/>
          <p:cNvSpPr txBox="1"/>
          <p:nvPr/>
        </p:nvSpPr>
        <p:spPr>
          <a:xfrm>
            <a:off x="548640" y="2697480"/>
            <a:ext cx="4572000" cy="411480"/>
          </a:xfrm>
          <a:prstGeom prst="rect">
            <a:avLst/>
          </a:prstGeom>
          <a:noFill/>
          <a:ln/>
        </p:spPr>
        <p:txBody>
          <a:bodyPr wrap="square" lIns="0" tIns="0" rIns="0" bIns="0" rtlCol="0" anchor="ctr"/>
          <a:lstStyle/>
          <a:p>
            <a:pPr indent="0" marL="0">
              <a:buNone/>
            </a:pPr>
            <a:r>
              <a:rPr lang="en-US" sz="1800" i="1" dirty="0">
                <a:solidFill>
                  <a:schemeClr val="bg1"/>
                </a:solidFill>
              </a:rPr>
              <a:t>Caught before it reaches the patient.</a:t>
            </a:r>
            <a:endParaRPr lang="en-US" sz="1800" dirty="0"/>
          </a:p>
        </p:txBody>
      </p:sp>
      <p:sp>
        <p:nvSpPr>
          <p:cNvPr id="6" name="Team"/>
          <p:cNvSpPr txBox="1"/>
          <p:nvPr/>
        </p:nvSpPr>
        <p:spPr>
          <a:xfrm>
            <a:off x="548640" y="4251960"/>
            <a:ext cx="4572000" cy="274320"/>
          </a:xfrm>
          <a:prstGeom prst="rect">
            <a:avLst/>
          </a:prstGeom>
          <a:noFill/>
          <a:ln/>
        </p:spPr>
        <p:txBody>
          <a:bodyPr wrap="square" lIns="0" tIns="0" rIns="0" bIns="0" rtlCol="0" anchor="ctr"/>
          <a:lstStyle/>
          <a:p>
            <a:pPr indent="0" marL="0">
              <a:buNone/>
            </a:pPr>
            <a:r>
              <a:rPr lang="en-US" sz="1200" dirty="0">
                <a:solidFill>
                  <a:schemeClr val="accent6"/>
                </a:solidFill>
              </a:rPr>
              <a:t>Local-first AI on one Dell GB10   |   Team: [TEAM_NAMES]</a:t>
            </a:r>
            <a:endParaRPr lang="en-US" sz="1200" dirty="0"/>
          </a:p>
        </p:txBody>
      </p:sp>
      <p:sp>
        <p:nvSpPr>
          <p:cNvPr id="7" name="Backdrop circle"/>
          <p:cNvSpPr/>
          <p:nvPr/>
        </p:nvSpPr>
        <p:spPr>
          <a:xfrm>
            <a:off x="5257800" y="685800"/>
            <a:ext cx="3566160" cy="3566160"/>
          </a:xfrm>
          <a:prstGeom prst="ellipse">
            <a:avLst/>
          </a:prstGeom>
          <a:solidFill>
            <a:schemeClr val="tx2"/>
          </a:solidFill>
          <a:ln w="12700">
            <a:solidFill>
              <a:schemeClr val="tx2"/>
            </a:solidFill>
            <a:prstDash val="solid"/>
          </a:ln>
        </p:spPr>
      </p:sp>
      <p:sp>
        <p:nvSpPr>
          <p:cNvPr id="8" name="Prescription card"/>
          <p:cNvSpPr/>
          <p:nvPr/>
        </p:nvSpPr>
        <p:spPr>
          <a:xfrm>
            <a:off x="5989320" y="868680"/>
            <a:ext cx="2240280" cy="3154680"/>
          </a:xfrm>
          <a:prstGeom prst="roundRect">
            <a:avLst>
              <a:gd name="adj" fmla="val 4898"/>
            </a:avLst>
          </a:prstGeom>
          <a:solidFill>
            <a:schemeClr val="bg1"/>
          </a:solidFill>
          <a:ln w="12700">
            <a:solidFill>
              <a:schemeClr val="bg1"/>
            </a:solidFill>
            <a:prstDash val="solid"/>
          </a:ln>
        </p:spPr>
      </p:sp>
      <p:sp>
        <p:nvSpPr>
          <p:cNvPr id="9" name="Rx mark"/>
          <p:cNvSpPr txBox="1"/>
          <p:nvPr/>
        </p:nvSpPr>
        <p:spPr>
          <a:xfrm>
            <a:off x="6217920" y="987552"/>
            <a:ext cx="914400" cy="548640"/>
          </a:xfrm>
          <a:prstGeom prst="rect">
            <a:avLst/>
          </a:prstGeom>
          <a:noFill/>
          <a:ln/>
        </p:spPr>
        <p:txBody>
          <a:bodyPr wrap="square" lIns="0" tIns="0" rIns="0" bIns="0" rtlCol="0" anchor="ctr"/>
          <a:lstStyle/>
          <a:p>
            <a:pPr indent="0" marL="0">
              <a:buNone/>
            </a:pPr>
            <a:r>
              <a:rPr lang="en-US" sz="3000" b="1" i="1" dirty="0">
                <a:solidFill>
                  <a:schemeClr val="tx1"/>
                </a:solidFill>
                <a:latin typeface="Times New Roman" pitchFamily="34" charset="0"/>
                <a:ea typeface="Times New Roman" pitchFamily="34" charset="-122"/>
                <a:cs typeface="Times New Roman" pitchFamily="34" charset="-120"/>
              </a:rPr>
              <a:t>Rx</a:t>
            </a:r>
            <a:endParaRPr lang="en-US" sz="3000" dirty="0"/>
          </a:p>
        </p:txBody>
      </p:sp>
      <p:sp>
        <p:nvSpPr>
          <p:cNvPr id="10" name="Text line 1"/>
          <p:cNvSpPr/>
          <p:nvPr/>
        </p:nvSpPr>
        <p:spPr>
          <a:xfrm>
            <a:off x="6217920" y="1691640"/>
            <a:ext cx="1737360" cy="82296"/>
          </a:xfrm>
          <a:prstGeom prst="roundRect">
            <a:avLst>
              <a:gd name="adj" fmla="val 44444"/>
            </a:avLst>
          </a:prstGeom>
          <a:solidFill>
            <a:srgbClr val="D5DDE2"/>
          </a:solidFill>
          <a:ln w="12700">
            <a:solidFill>
              <a:srgbClr val="D5DDE2"/>
            </a:solidFill>
            <a:prstDash val="solid"/>
          </a:ln>
        </p:spPr>
      </p:sp>
      <p:sp>
        <p:nvSpPr>
          <p:cNvPr id="11" name="Text line 2"/>
          <p:cNvSpPr/>
          <p:nvPr/>
        </p:nvSpPr>
        <p:spPr>
          <a:xfrm>
            <a:off x="6217920" y="1901952"/>
            <a:ext cx="1280160" cy="82296"/>
          </a:xfrm>
          <a:prstGeom prst="roundRect">
            <a:avLst>
              <a:gd name="adj" fmla="val 44444"/>
            </a:avLst>
          </a:prstGeom>
          <a:solidFill>
            <a:srgbClr val="D5DDE2"/>
          </a:solidFill>
          <a:ln w="12700">
            <a:solidFill>
              <a:srgbClr val="D5DDE2"/>
            </a:solidFill>
            <a:prstDash val="solid"/>
          </a:ln>
        </p:spPr>
      </p:sp>
      <p:sp>
        <p:nvSpPr>
          <p:cNvPr id="12" name="Highlighted line"/>
          <p:cNvSpPr/>
          <p:nvPr/>
        </p:nvSpPr>
        <p:spPr>
          <a:xfrm>
            <a:off x="6126480" y="2148840"/>
            <a:ext cx="1965960" cy="457200"/>
          </a:xfrm>
          <a:prstGeom prst="roundRect">
            <a:avLst>
              <a:gd name="adj" fmla="val 12000"/>
            </a:avLst>
          </a:prstGeom>
          <a:solidFill>
            <a:srgbClr val="FBE3E1"/>
          </a:solidFill>
          <a:ln w="15875">
            <a:solidFill>
              <a:schemeClr val="accent2"/>
            </a:solidFill>
            <a:prstDash val="solid"/>
          </a:ln>
        </p:spPr>
      </p:sp>
      <p:sp>
        <p:nvSpPr>
          <p:cNvPr id="13" name="Highlighted text"/>
          <p:cNvSpPr txBox="1"/>
          <p:nvPr/>
        </p:nvSpPr>
        <p:spPr>
          <a:xfrm>
            <a:off x="6217920" y="2148840"/>
            <a:ext cx="1828800" cy="457200"/>
          </a:xfrm>
          <a:prstGeom prst="rect">
            <a:avLst/>
          </a:prstGeom>
          <a:noFill/>
          <a:ln/>
        </p:spPr>
        <p:txBody>
          <a:bodyPr wrap="square" lIns="0" tIns="0" rIns="0" bIns="0" rtlCol="0" anchor="ctr"/>
          <a:lstStyle/>
          <a:p>
            <a:pPr indent="0" marL="0">
              <a:buNone/>
            </a:pPr>
            <a:r>
              <a:rPr lang="en-US" sz="1200" b="1" dirty="0">
                <a:solidFill>
                  <a:schemeClr val="accent2"/>
                </a:solidFill>
              </a:rPr>
              <a:t>gabapentin 3,000 mg</a:t>
            </a:r>
            <a:endParaRPr lang="en-US" sz="1200" dirty="0"/>
          </a:p>
        </p:txBody>
      </p:sp>
      <p:sp>
        <p:nvSpPr>
          <p:cNvPr id="14" name="Text line 3"/>
          <p:cNvSpPr/>
          <p:nvPr/>
        </p:nvSpPr>
        <p:spPr>
          <a:xfrm>
            <a:off x="6217920" y="2788920"/>
            <a:ext cx="1737360" cy="82296"/>
          </a:xfrm>
          <a:prstGeom prst="roundRect">
            <a:avLst>
              <a:gd name="adj" fmla="val 44444"/>
            </a:avLst>
          </a:prstGeom>
          <a:solidFill>
            <a:srgbClr val="D5DDE2"/>
          </a:solidFill>
          <a:ln w="12700">
            <a:solidFill>
              <a:srgbClr val="D5DDE2"/>
            </a:solidFill>
            <a:prstDash val="solid"/>
          </a:ln>
        </p:spPr>
      </p:sp>
      <p:sp>
        <p:nvSpPr>
          <p:cNvPr id="15" name="Text line 4"/>
          <p:cNvSpPr/>
          <p:nvPr/>
        </p:nvSpPr>
        <p:spPr>
          <a:xfrm>
            <a:off x="6217920" y="2999232"/>
            <a:ext cx="1463040" cy="82296"/>
          </a:xfrm>
          <a:prstGeom prst="roundRect">
            <a:avLst>
              <a:gd name="adj" fmla="val 44444"/>
            </a:avLst>
          </a:prstGeom>
          <a:solidFill>
            <a:srgbClr val="D5DDE2"/>
          </a:solidFill>
          <a:ln w="12700">
            <a:solidFill>
              <a:srgbClr val="D5DDE2"/>
            </a:solidFill>
            <a:prstDash val="solid"/>
          </a:ln>
        </p:spPr>
      </p:sp>
      <p:sp>
        <p:nvSpPr>
          <p:cNvPr id="16" name="Text line 5"/>
          <p:cNvSpPr/>
          <p:nvPr/>
        </p:nvSpPr>
        <p:spPr>
          <a:xfrm>
            <a:off x="6217920" y="3209544"/>
            <a:ext cx="1097280" cy="82296"/>
          </a:xfrm>
          <a:prstGeom prst="roundRect">
            <a:avLst>
              <a:gd name="adj" fmla="val 44444"/>
            </a:avLst>
          </a:prstGeom>
          <a:solidFill>
            <a:srgbClr val="D5DDE2"/>
          </a:solidFill>
          <a:ln w="12700">
            <a:solidFill>
              <a:srgbClr val="D5DDE2"/>
            </a:solidFill>
            <a:prstDash val="solid"/>
          </a:ln>
        </p:spPr>
      </p:sp>
      <p:sp>
        <p:nvSpPr>
          <p:cNvPr id="17" name="Flag"/>
          <p:cNvSpPr txBox="1"/>
          <p:nvPr/>
        </p:nvSpPr>
        <p:spPr>
          <a:xfrm>
            <a:off x="6903720" y="3474720"/>
            <a:ext cx="109728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Flagged</a:t>
            </a:r>
            <a:endParaRPr lang="en-US" sz="1100" dirty="0"/>
          </a:p>
        </p:txBody>
      </p:sp>
      <p:pic>
        <p:nvPicPr>
          <p:cNvPr id="18" name="Pill bottle" descr="preencoded.png">    </p:cNvPr>
          <p:cNvPicPr>
            <a:picLocks noChangeAspect="1"/>
          </p:cNvPicPr>
          <p:nvPr/>
        </p:nvPicPr>
        <p:blipFill>
          <a:blip r:embed="rId1"/>
          <a:stretch>
            <a:fillRect/>
          </a:stretch>
        </p:blipFill>
        <p:spPr>
          <a:xfrm>
            <a:off x="5349240" y="2971800"/>
            <a:ext cx="868680" cy="868680"/>
          </a:xfrm>
          <a:prstGeom prst="rect">
            <a:avLst/>
          </a:prstGeom>
        </p:spPr>
      </p:pic>
      <p:pic>
        <p:nvPicPr>
          <p:cNvPr id="19" name="Capsules" descr="preencoded.png">    </p:cNvPr>
          <p:cNvPicPr>
            <a:picLocks noChangeAspect="1"/>
          </p:cNvPicPr>
          <p:nvPr/>
        </p:nvPicPr>
        <p:blipFill>
          <a:blip r:embed="rId2"/>
          <a:stretch>
            <a:fillRect/>
          </a:stretch>
        </p:blipFill>
        <p:spPr>
          <a:xfrm>
            <a:off x="8092440" y="914400"/>
            <a:ext cx="6858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global problem in discharge paperwork</a:t>
            </a:r>
            <a:endParaRPr lang="en-US" sz="3000" dirty="0"/>
          </a:p>
        </p:txBody>
      </p:sp>
      <p:pic>
        <p:nvPicPr>
          <p:cNvPr id="3" name="Globe icon" descr="preencoded.png">    </p:cNvPr>
          <p:cNvPicPr>
            <a:picLocks noChangeAspect="1"/>
          </p:cNvPicPr>
          <p:nvPr/>
        </p:nvPicPr>
        <p:blipFill>
          <a:blip r:embed="rId1"/>
          <a:stretch>
            <a:fillRect/>
          </a:stretch>
        </p:blipFill>
        <p:spPr>
          <a:xfrm>
            <a:off x="548640" y="1078992"/>
            <a:ext cx="292608" cy="292608"/>
          </a:xfrm>
          <a:prstGeom prst="rect">
            <a:avLst/>
          </a:prstGeom>
        </p:spPr>
      </p:pic>
      <p:sp>
        <p:nvSpPr>
          <p:cNvPr id="4" name="Evidence scope"/>
          <p:cNvSpPr txBox="1"/>
          <p:nvPr/>
        </p:nvSpPr>
        <p:spPr>
          <a:xfrm>
            <a:off x="960120" y="1051560"/>
            <a:ext cx="7589520" cy="347472"/>
          </a:xfrm>
          <a:prstGeom prst="rect">
            <a:avLst/>
          </a:prstGeom>
          <a:noFill/>
          <a:ln/>
        </p:spPr>
        <p:txBody>
          <a:bodyPr wrap="square" lIns="0" tIns="0" rIns="0" bIns="0" rtlCol="0" anchor="ctr"/>
          <a:lstStyle/>
          <a:p>
            <a:pPr indent="0" marL="0">
              <a:buNone/>
            </a:pPr>
            <a:r>
              <a:rPr lang="en-US" sz="1400" dirty="0">
                <a:solidFill>
                  <a:schemeClr val="accent5"/>
                </a:solidFill>
              </a:rPr>
              <a:t>Evidence from 54 studies  ·  20,895 discharges  ·  26 countries, most of them in the US</a:t>
            </a:r>
            <a:endParaRPr lang="en-US" sz="1400" dirty="0"/>
          </a:p>
        </p:txBody>
      </p:sp>
      <p:sp>
        <p:nvSpPr>
          <p:cNvPr id="5" name="Stat 1 card"/>
          <p:cNvSpPr/>
          <p:nvPr/>
        </p:nvSpPr>
        <p:spPr>
          <a:xfrm>
            <a:off x="548640" y="1645920"/>
            <a:ext cx="2514600" cy="2606040"/>
          </a:xfrm>
          <a:prstGeom prst="roundRect">
            <a:avLst>
              <a:gd name="adj" fmla="val 4364"/>
            </a:avLst>
          </a:prstGeom>
          <a:solidFill>
            <a:schemeClr val="bg2"/>
          </a:solidFill>
          <a:ln w="12700">
            <a:solidFill>
              <a:schemeClr val="bg2"/>
            </a:solidFill>
            <a:prstDash val="solid"/>
          </a:ln>
        </p:spPr>
      </p:sp>
      <p:sp>
        <p:nvSpPr>
          <p:cNvPr id="6" name="Stat 1 value"/>
          <p:cNvSpPr txBox="1"/>
          <p:nvPr/>
        </p:nvSpPr>
        <p:spPr>
          <a:xfrm>
            <a:off x="777240" y="1828800"/>
            <a:ext cx="210312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~50%</a:t>
            </a:r>
            <a:endParaRPr lang="en-US" sz="5400" dirty="0"/>
          </a:p>
        </p:txBody>
      </p:sp>
      <p:sp>
        <p:nvSpPr>
          <p:cNvPr id="7" name="Stat 1 label"/>
          <p:cNvSpPr txBox="1"/>
          <p:nvPr/>
        </p:nvSpPr>
        <p:spPr>
          <a:xfrm>
            <a:off x="777240" y="2880360"/>
            <a:ext cx="2103120" cy="1188720"/>
          </a:xfrm>
          <a:prstGeom prst="rect">
            <a:avLst/>
          </a:prstGeom>
          <a:noFill/>
          <a:ln/>
        </p:spPr>
        <p:txBody>
          <a:bodyPr wrap="square" lIns="0" tIns="0" rIns="0" bIns="0" rtlCol="0" anchor="t"/>
          <a:lstStyle/>
          <a:p>
            <a:pPr indent="0" marL="0">
              <a:buNone/>
            </a:pPr>
            <a:r>
              <a:rPr lang="en-US" sz="1400" dirty="0">
                <a:solidFill>
                  <a:schemeClr val="tx1"/>
                </a:solidFill>
              </a:rPr>
              <a:t>of adult and elderly patients leave with at least one unintentional medication discrepancy</a:t>
            </a:r>
            <a:endParaRPr lang="en-US" sz="1400" dirty="0"/>
          </a:p>
        </p:txBody>
      </p:sp>
      <p:sp>
        <p:nvSpPr>
          <p:cNvPr id="8" name="Stat 2 card"/>
          <p:cNvSpPr/>
          <p:nvPr/>
        </p:nvSpPr>
        <p:spPr>
          <a:xfrm>
            <a:off x="3310128" y="1645920"/>
            <a:ext cx="2514600" cy="2606040"/>
          </a:xfrm>
          <a:prstGeom prst="roundRect">
            <a:avLst>
              <a:gd name="adj" fmla="val 4364"/>
            </a:avLst>
          </a:prstGeom>
          <a:solidFill>
            <a:schemeClr val="bg2"/>
          </a:solidFill>
          <a:ln w="12700">
            <a:solidFill>
              <a:schemeClr val="bg2"/>
            </a:solidFill>
            <a:prstDash val="solid"/>
          </a:ln>
        </p:spPr>
      </p:sp>
      <p:sp>
        <p:nvSpPr>
          <p:cNvPr id="9" name="Stat 2 value"/>
          <p:cNvSpPr txBox="1"/>
          <p:nvPr/>
        </p:nvSpPr>
        <p:spPr>
          <a:xfrm>
            <a:off x="3538728" y="1828800"/>
            <a:ext cx="210312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10" name="Stat 2 label"/>
          <p:cNvSpPr txBox="1"/>
          <p:nvPr/>
        </p:nvSpPr>
        <p:spPr>
          <a:xfrm>
            <a:off x="3538728" y="2880360"/>
            <a:ext cx="2103120" cy="1188720"/>
          </a:xfrm>
          <a:prstGeom prst="rect">
            <a:avLst/>
          </a:prstGeom>
          <a:noFill/>
          <a:ln/>
        </p:spPr>
        <p:txBody>
          <a:bodyPr wrap="square" lIns="0" tIns="0" rIns="0" bIns="0" rtlCol="0" anchor="t"/>
          <a:lstStyle/>
          <a:p>
            <a:pPr indent="0" marL="0">
              <a:buNone/>
            </a:pPr>
            <a:r>
              <a:rPr lang="en-US" sz="1400" dirty="0">
                <a:solidFill>
                  <a:schemeClr val="tx1"/>
                </a:solidFill>
              </a:rPr>
              <a:t>risk of an emergency visit within 30 days, in critically ill older adults</a:t>
            </a:r>
            <a:endParaRPr lang="en-US" sz="1400" dirty="0"/>
          </a:p>
        </p:txBody>
      </p:sp>
      <p:sp>
        <p:nvSpPr>
          <p:cNvPr id="11" name="Manual card"/>
          <p:cNvSpPr/>
          <p:nvPr/>
        </p:nvSpPr>
        <p:spPr>
          <a:xfrm>
            <a:off x="6080760" y="1645920"/>
            <a:ext cx="2514600" cy="2606040"/>
          </a:xfrm>
          <a:prstGeom prst="roundRect">
            <a:avLst>
              <a:gd name="adj" fmla="val 4364"/>
            </a:avLst>
          </a:prstGeom>
          <a:solidFill>
            <a:schemeClr val="tx1"/>
          </a:solidFill>
          <a:ln w="12700">
            <a:solidFill>
              <a:schemeClr val="tx1"/>
            </a:solidFill>
            <a:prstDash val="solid"/>
          </a:ln>
        </p:spPr>
      </p:sp>
      <p:pic>
        <p:nvPicPr>
          <p:cNvPr id="12" name="Manual icon" descr="preencoded.png">    </p:cNvPr>
          <p:cNvPicPr>
            <a:picLocks noChangeAspect="1"/>
          </p:cNvPicPr>
          <p:nvPr/>
        </p:nvPicPr>
        <p:blipFill>
          <a:blip r:embed="rId2"/>
          <a:stretch>
            <a:fillRect/>
          </a:stretch>
        </p:blipFill>
        <p:spPr>
          <a:xfrm>
            <a:off x="6309360" y="1920240"/>
            <a:ext cx="685800" cy="685800"/>
          </a:xfrm>
          <a:prstGeom prst="rect">
            <a:avLst/>
          </a:prstGeom>
        </p:spPr>
      </p:pic>
      <p:sp>
        <p:nvSpPr>
          <p:cNvPr id="13" name="Manual label"/>
          <p:cNvSpPr txBox="1"/>
          <p:nvPr/>
        </p:nvSpPr>
        <p:spPr>
          <a:xfrm>
            <a:off x="6309360" y="2880360"/>
            <a:ext cx="2103120" cy="1188720"/>
          </a:xfrm>
          <a:prstGeom prst="rect">
            <a:avLst/>
          </a:prstGeom>
          <a:noFill/>
          <a:ln/>
        </p:spPr>
        <p:txBody>
          <a:bodyPr wrap="square" lIns="0" tIns="0" rIns="0" bIns="0" rtlCol="0" anchor="t"/>
          <a:lstStyle/>
          <a:p>
            <a:pPr indent="0" marL="0">
              <a:buNone/>
            </a:pPr>
            <a:r>
              <a:rPr lang="en-US" sz="1600" b="1" dirty="0">
                <a:solidFill>
                  <a:schemeClr val="bg1"/>
                </a:solidFill>
              </a:rPr>
              <a:t>Still checked by hand, one document at a time</a:t>
            </a:r>
            <a:endParaRPr lang="en-US" sz="1600" dirty="0"/>
          </a:p>
        </p:txBody>
      </p:sp>
      <p:sp>
        <p:nvSpPr>
          <p:cNvPr id="14" name="Source"/>
          <p:cNvSpPr txBox="1"/>
          <p:nvPr/>
        </p:nvSpPr>
        <p:spPr>
          <a:xfrm>
            <a:off x="3108960" y="4754880"/>
            <a:ext cx="5486400" cy="237744"/>
          </a:xfrm>
          <a:prstGeom prst="rect">
            <a:avLst/>
          </a:prstGeom>
          <a:noFill/>
          <a:ln/>
        </p:spPr>
        <p:txBody>
          <a:bodyPr wrap="square" lIns="0" tIns="0" rIns="0" bIns="0" rtlCol="0" anchor="ctr"/>
          <a:lstStyle/>
          <a:p>
            <a:pPr algn="r" indent="0" marL="0">
              <a:buNone/>
            </a:pPr>
            <a:r>
              <a:rPr lang="en-US" sz="1000" i="1" dirty="0">
                <a:solidFill>
                  <a:schemeClr val="accent5"/>
                </a:solidFill>
              </a:rPr>
              <a:t>Sources: Alqenae et al., Drug Safety 2020; BMC Geriatrics 2024; Joint Commission NPSG 2026</a:t>
            </a:r>
            <a:endParaRPr lang="en-US" sz="1000" dirty="0"/>
          </a:p>
        </p:txBody>
      </p:sp>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Demo</a:t>
            </a:r>
            <a:endParaRPr lang="en-US" sz="3000" dirty="0"/>
          </a:p>
        </p:txBody>
      </p:sp>
      <p:sp>
        <p:nvSpPr>
          <p:cNvPr id="3" name="Case 1 card"/>
          <p:cNvSpPr/>
          <p:nvPr/>
        </p:nvSpPr>
        <p:spPr>
          <a:xfrm>
            <a:off x="548640" y="1188720"/>
            <a:ext cx="4937760" cy="960120"/>
          </a:xfrm>
          <a:prstGeom prst="roundRect">
            <a:avLst>
              <a:gd name="adj" fmla="val 11429"/>
            </a:avLst>
          </a:prstGeom>
          <a:solidFill>
            <a:schemeClr val="bg2"/>
          </a:solidFill>
          <a:ln w="12700">
            <a:solidFill>
              <a:schemeClr val="bg2"/>
            </a:solidFill>
            <a:prstDash val="solid"/>
          </a:ln>
        </p:spPr>
      </p:sp>
      <p:sp>
        <p:nvSpPr>
          <p:cNvPr id="4" name="Case 1 tag"/>
          <p:cNvSpPr txBox="1"/>
          <p:nvPr/>
        </p:nvSpPr>
        <p:spPr>
          <a:xfrm>
            <a:off x="777240" y="1298448"/>
            <a:ext cx="2926080" cy="228600"/>
          </a:xfrm>
          <a:prstGeom prst="rect">
            <a:avLst/>
          </a:prstGeom>
          <a:noFill/>
          <a:ln/>
        </p:spPr>
        <p:txBody>
          <a:bodyPr wrap="square" lIns="0" tIns="0" rIns="0" bIns="0" rtlCol="0" anchor="ctr"/>
          <a:lstStyle/>
          <a:p>
            <a:pPr indent="0" marL="0">
              <a:buNone/>
            </a:pPr>
            <a:r>
              <a:rPr lang="en-US" sz="1000" b="1" dirty="0">
                <a:solidFill>
                  <a:schemeClr val="accent1"/>
                </a:solidFill>
              </a:rPr>
              <a:t>USE CASE 1  ·  DOSE ERROR</a:t>
            </a:r>
            <a:endParaRPr lang="en-US" sz="1000" dirty="0"/>
          </a:p>
        </p:txBody>
      </p:sp>
      <p:sp>
        <p:nvSpPr>
          <p:cNvPr id="5" name="Case 1 title"/>
          <p:cNvSpPr txBox="1"/>
          <p:nvPr/>
        </p:nvSpPr>
        <p:spPr>
          <a:xfrm>
            <a:off x="777240" y="1517904"/>
            <a:ext cx="2926080" cy="320040"/>
          </a:xfrm>
          <a:prstGeom prst="rect">
            <a:avLst/>
          </a:prstGeom>
          <a:noFill/>
          <a:ln/>
        </p:spPr>
        <p:txBody>
          <a:bodyPr wrap="square" lIns="0" tIns="0" rIns="0" bIns="0" rtlCol="0" anchor="ctr"/>
          <a:lstStyle/>
          <a:p>
            <a:pPr indent="0" marL="0">
              <a:buNone/>
            </a:pPr>
            <a:r>
              <a:rPr lang="en-US" sz="1600" b="1" dirty="0">
                <a:solidFill>
                  <a:schemeClr val="tx1"/>
                </a:solidFill>
              </a:rPr>
              <a:t>Gabapentin</a:t>
            </a:r>
            <a:endParaRPr lang="en-US" sz="1600" dirty="0"/>
          </a:p>
        </p:txBody>
      </p:sp>
      <p:sp>
        <p:nvSpPr>
          <p:cNvPr id="6" name="Case 1 detail"/>
          <p:cNvSpPr txBox="1"/>
          <p:nvPr/>
        </p:nvSpPr>
        <p:spPr>
          <a:xfrm>
            <a:off x="777240" y="1828800"/>
            <a:ext cx="3017520" cy="256032"/>
          </a:xfrm>
          <a:prstGeom prst="rect">
            <a:avLst/>
          </a:prstGeom>
          <a:noFill/>
          <a:ln/>
        </p:spPr>
        <p:txBody>
          <a:bodyPr wrap="square" lIns="0" tIns="0" rIns="0" bIns="0" rtlCol="0" anchor="ctr"/>
          <a:lstStyle/>
          <a:p>
            <a:pPr indent="0" marL="0">
              <a:buNone/>
            </a:pPr>
            <a:r>
              <a:rPr lang="en-US" sz="1200" dirty="0">
                <a:solidFill>
                  <a:schemeClr val="accent5"/>
                </a:solidFill>
              </a:rPr>
              <a:t>Summary 300 mg vs prescription 3,000 mg</a:t>
            </a:r>
            <a:endParaRPr lang="en-US" sz="1200" dirty="0"/>
          </a:p>
        </p:txBody>
      </p:sp>
      <p:sp>
        <p:nvSpPr>
          <p:cNvPr id="7" name="Case 1 status"/>
          <p:cNvSpPr txBox="1"/>
          <p:nvPr/>
        </p:nvSpPr>
        <p:spPr>
          <a:xfrm>
            <a:off x="3840480" y="1517904"/>
            <a:ext cx="14630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Flagged</a:t>
            </a:r>
            <a:endParaRPr lang="en-US" sz="1200" dirty="0"/>
          </a:p>
        </p:txBody>
      </p:sp>
      <p:sp>
        <p:nvSpPr>
          <p:cNvPr id="8" name="Case 2 card"/>
          <p:cNvSpPr/>
          <p:nvPr/>
        </p:nvSpPr>
        <p:spPr>
          <a:xfrm>
            <a:off x="548640" y="2286000"/>
            <a:ext cx="4937760" cy="960120"/>
          </a:xfrm>
          <a:prstGeom prst="roundRect">
            <a:avLst>
              <a:gd name="adj" fmla="val 11429"/>
            </a:avLst>
          </a:prstGeom>
          <a:solidFill>
            <a:schemeClr val="bg2"/>
          </a:solidFill>
          <a:ln w="12700">
            <a:solidFill>
              <a:schemeClr val="bg2"/>
            </a:solidFill>
            <a:prstDash val="solid"/>
          </a:ln>
        </p:spPr>
      </p:sp>
      <p:sp>
        <p:nvSpPr>
          <p:cNvPr id="9" name="Case 2 tag"/>
          <p:cNvSpPr txBox="1"/>
          <p:nvPr/>
        </p:nvSpPr>
        <p:spPr>
          <a:xfrm>
            <a:off x="777240" y="2395728"/>
            <a:ext cx="2926080" cy="228600"/>
          </a:xfrm>
          <a:prstGeom prst="rect">
            <a:avLst/>
          </a:prstGeom>
          <a:noFill/>
          <a:ln/>
        </p:spPr>
        <p:txBody>
          <a:bodyPr wrap="square" lIns="0" tIns="0" rIns="0" bIns="0" rtlCol="0" anchor="ctr"/>
          <a:lstStyle/>
          <a:p>
            <a:pPr indent="0" marL="0">
              <a:buNone/>
            </a:pPr>
            <a:r>
              <a:rPr lang="en-US" sz="1000" b="1" dirty="0">
                <a:solidFill>
                  <a:schemeClr val="accent1"/>
                </a:solidFill>
              </a:rPr>
              <a:t>USE CASE 2  ·  STOPPED DRUG STILL PRESCRIBED</a:t>
            </a:r>
            <a:endParaRPr lang="en-US" sz="1000" dirty="0"/>
          </a:p>
        </p:txBody>
      </p:sp>
      <p:sp>
        <p:nvSpPr>
          <p:cNvPr id="10" name="Case 2 title"/>
          <p:cNvSpPr txBox="1"/>
          <p:nvPr/>
        </p:nvSpPr>
        <p:spPr>
          <a:xfrm>
            <a:off x="777240" y="2615184"/>
            <a:ext cx="2926080" cy="320040"/>
          </a:xfrm>
          <a:prstGeom prst="rect">
            <a:avLst/>
          </a:prstGeom>
          <a:noFill/>
          <a:ln/>
        </p:spPr>
        <p:txBody>
          <a:bodyPr wrap="square" lIns="0" tIns="0" rIns="0" bIns="0" rtlCol="0" anchor="ctr"/>
          <a:lstStyle/>
          <a:p>
            <a:pPr indent="0" marL="0">
              <a:buNone/>
            </a:pPr>
            <a:r>
              <a:rPr lang="en-US" sz="1600" b="1" dirty="0">
                <a:solidFill>
                  <a:schemeClr val="tx1"/>
                </a:solidFill>
              </a:rPr>
              <a:t>Warfarin</a:t>
            </a:r>
            <a:endParaRPr lang="en-US" sz="1600" dirty="0"/>
          </a:p>
        </p:txBody>
      </p:sp>
      <p:sp>
        <p:nvSpPr>
          <p:cNvPr id="11" name="Case 2 detail"/>
          <p:cNvSpPr txBox="1"/>
          <p:nvPr/>
        </p:nvSpPr>
        <p:spPr>
          <a:xfrm>
            <a:off x="777240" y="2926080"/>
            <a:ext cx="3017520" cy="256032"/>
          </a:xfrm>
          <a:prstGeom prst="rect">
            <a:avLst/>
          </a:prstGeom>
          <a:noFill/>
          <a:ln/>
        </p:spPr>
        <p:txBody>
          <a:bodyPr wrap="square" lIns="0" tIns="0" rIns="0" bIns="0" rtlCol="0" anchor="ctr"/>
          <a:lstStyle/>
          <a:p>
            <a:pPr indent="0" marL="0">
              <a:buNone/>
            </a:pPr>
            <a:r>
              <a:rPr lang="en-US" sz="1200" dirty="0">
                <a:solidFill>
                  <a:schemeClr val="accent5"/>
                </a:solidFill>
              </a:rPr>
              <a:t>Stopped for bleeding, still on prescription</a:t>
            </a:r>
            <a:endParaRPr lang="en-US" sz="1200" dirty="0"/>
          </a:p>
        </p:txBody>
      </p:sp>
      <p:sp>
        <p:nvSpPr>
          <p:cNvPr id="12" name="Case 2 status"/>
          <p:cNvSpPr txBox="1"/>
          <p:nvPr/>
        </p:nvSpPr>
        <p:spPr>
          <a:xfrm>
            <a:off x="3840480" y="2615184"/>
            <a:ext cx="14630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Flagged</a:t>
            </a:r>
            <a:endParaRPr lang="en-US" sz="1200" dirty="0"/>
          </a:p>
        </p:txBody>
      </p:sp>
      <p:sp>
        <p:nvSpPr>
          <p:cNvPr id="13" name="Case 3 card"/>
          <p:cNvSpPr/>
          <p:nvPr/>
        </p:nvSpPr>
        <p:spPr>
          <a:xfrm>
            <a:off x="548640" y="3383280"/>
            <a:ext cx="4937760" cy="960120"/>
          </a:xfrm>
          <a:prstGeom prst="roundRect">
            <a:avLst>
              <a:gd name="adj" fmla="val 11429"/>
            </a:avLst>
          </a:prstGeom>
          <a:solidFill>
            <a:schemeClr val="bg2"/>
          </a:solidFill>
          <a:ln w="12700">
            <a:solidFill>
              <a:schemeClr val="bg2"/>
            </a:solidFill>
            <a:prstDash val="solid"/>
          </a:ln>
        </p:spPr>
      </p:sp>
      <p:sp>
        <p:nvSpPr>
          <p:cNvPr id="14" name="Case 3 tag"/>
          <p:cNvSpPr txBox="1"/>
          <p:nvPr/>
        </p:nvSpPr>
        <p:spPr>
          <a:xfrm>
            <a:off x="777240" y="3493008"/>
            <a:ext cx="2926080" cy="228600"/>
          </a:xfrm>
          <a:prstGeom prst="rect">
            <a:avLst/>
          </a:prstGeom>
          <a:noFill/>
          <a:ln/>
        </p:spPr>
        <p:txBody>
          <a:bodyPr wrap="square" lIns="0" tIns="0" rIns="0" bIns="0" rtlCol="0" anchor="ctr"/>
          <a:lstStyle/>
          <a:p>
            <a:pPr indent="0" marL="0">
              <a:buNone/>
            </a:pPr>
            <a:r>
              <a:rPr lang="en-US" sz="1000" b="1" dirty="0">
                <a:solidFill>
                  <a:schemeClr val="accent1"/>
                </a:solidFill>
              </a:rPr>
              <a:t>USE CASE 3  ·  CONSISTENT DOCUMENTS</a:t>
            </a:r>
            <a:endParaRPr lang="en-US" sz="1000" dirty="0"/>
          </a:p>
        </p:txBody>
      </p:sp>
      <p:sp>
        <p:nvSpPr>
          <p:cNvPr id="15" name="Case 3 title"/>
          <p:cNvSpPr txBox="1"/>
          <p:nvPr/>
        </p:nvSpPr>
        <p:spPr>
          <a:xfrm>
            <a:off x="777240" y="3712464"/>
            <a:ext cx="2926080" cy="320040"/>
          </a:xfrm>
          <a:prstGeom prst="rect">
            <a:avLst/>
          </a:prstGeom>
          <a:noFill/>
          <a:ln/>
        </p:spPr>
        <p:txBody>
          <a:bodyPr wrap="square" lIns="0" tIns="0" rIns="0" bIns="0" rtlCol="0" anchor="ctr"/>
          <a:lstStyle/>
          <a:p>
            <a:pPr indent="0" marL="0">
              <a:buNone/>
            </a:pPr>
            <a:r>
              <a:rPr lang="en-US" sz="1600" b="1" dirty="0">
                <a:solidFill>
                  <a:schemeClr val="tx1"/>
                </a:solidFill>
              </a:rPr>
              <a:t>Clean case</a:t>
            </a:r>
            <a:endParaRPr lang="en-US" sz="1600" dirty="0"/>
          </a:p>
        </p:txBody>
      </p:sp>
      <p:sp>
        <p:nvSpPr>
          <p:cNvPr id="16" name="Case 3 detail"/>
          <p:cNvSpPr txBox="1"/>
          <p:nvPr/>
        </p:nvSpPr>
        <p:spPr>
          <a:xfrm>
            <a:off x="777240" y="4023360"/>
            <a:ext cx="3017520" cy="256032"/>
          </a:xfrm>
          <a:prstGeom prst="rect">
            <a:avLst/>
          </a:prstGeom>
          <a:noFill/>
          <a:ln/>
        </p:spPr>
        <p:txBody>
          <a:bodyPr wrap="square" lIns="0" tIns="0" rIns="0" bIns="0" rtlCol="0" anchor="ctr"/>
          <a:lstStyle/>
          <a:p>
            <a:pPr indent="0" marL="0">
              <a:buNone/>
            </a:pPr>
            <a:r>
              <a:rPr lang="en-US" sz="1200" dirty="0">
                <a:solidFill>
                  <a:schemeClr val="accent5"/>
                </a:solidFill>
              </a:rPr>
              <a:t>Summary and prescription agree</a:t>
            </a:r>
            <a:endParaRPr lang="en-US" sz="1200" dirty="0"/>
          </a:p>
        </p:txBody>
      </p:sp>
      <p:sp>
        <p:nvSpPr>
          <p:cNvPr id="17" name="Case 3 status"/>
          <p:cNvSpPr txBox="1"/>
          <p:nvPr/>
        </p:nvSpPr>
        <p:spPr>
          <a:xfrm>
            <a:off x="3840480" y="3712464"/>
            <a:ext cx="146304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No discrepancies</a:t>
            </a:r>
            <a:endParaRPr lang="en-US" sz="1200" dirty="0"/>
          </a:p>
        </p:txBody>
      </p:sp>
      <p:sp>
        <p:nvSpPr>
          <p:cNvPr id="18" name="Video panel"/>
          <p:cNvSpPr/>
          <p:nvPr/>
        </p:nvSpPr>
        <p:spPr>
          <a:xfrm>
            <a:off x="5806440" y="1188720"/>
            <a:ext cx="2788920" cy="3154680"/>
          </a:xfrm>
          <a:prstGeom prst="roundRect">
            <a:avLst>
              <a:gd name="adj" fmla="val 3934"/>
            </a:avLst>
          </a:prstGeom>
          <a:solidFill>
            <a:schemeClr val="tx1"/>
          </a:solidFill>
          <a:ln w="12700">
            <a:solidFill>
              <a:schemeClr val="tx1"/>
            </a:solidFill>
            <a:prstDash val="solid"/>
          </a:ln>
        </p:spPr>
      </p:sp>
      <p:pic>
        <p:nvPicPr>
          <p:cNvPr id="19" name="Play icon" descr="preencoded.png">    </p:cNvPr>
          <p:cNvPicPr>
            <a:picLocks noChangeAspect="1"/>
          </p:cNvPicPr>
          <p:nvPr/>
        </p:nvPicPr>
        <p:blipFill>
          <a:blip r:embed="rId1"/>
          <a:stretch>
            <a:fillRect/>
          </a:stretch>
        </p:blipFill>
        <p:spPr>
          <a:xfrm>
            <a:off x="6035040" y="1371600"/>
            <a:ext cx="502920" cy="502920"/>
          </a:xfrm>
          <a:prstGeom prst="rect">
            <a:avLst/>
          </a:prstGeom>
        </p:spPr>
      </p:pic>
      <p:sp>
        <p:nvSpPr>
          <p:cNvPr id="20" name="Video title"/>
          <p:cNvSpPr txBox="1"/>
          <p:nvPr/>
        </p:nvSpPr>
        <p:spPr>
          <a:xfrm>
            <a:off x="6629400" y="1371600"/>
            <a:ext cx="1828800" cy="502920"/>
          </a:xfrm>
          <a:prstGeom prst="rect">
            <a:avLst/>
          </a:prstGeom>
          <a:noFill/>
          <a:ln/>
        </p:spPr>
        <p:txBody>
          <a:bodyPr wrap="square" lIns="0" tIns="0" rIns="0" bIns="0" rtlCol="0" anchor="ctr"/>
          <a:lstStyle/>
          <a:p>
            <a:pPr indent="0" marL="0">
              <a:buNone/>
            </a:pPr>
            <a:r>
              <a:rPr lang="en-US" sz="1600" b="1" dirty="0">
                <a:solidFill>
                  <a:schemeClr val="bg1"/>
                </a:solidFill>
              </a:rPr>
              <a:t>Watch the demo</a:t>
            </a:r>
            <a:endParaRPr lang="en-US" sz="1600" dirty="0"/>
          </a:p>
        </p:txBody>
      </p:sp>
      <p:sp>
        <p:nvSpPr>
          <p:cNvPr id="21" name="QR placeholder"/>
          <p:cNvSpPr/>
          <p:nvPr/>
        </p:nvSpPr>
        <p:spPr>
          <a:xfrm>
            <a:off x="6537960" y="2057400"/>
            <a:ext cx="1325880" cy="1325880"/>
          </a:xfrm>
          <a:prstGeom prst="roundRect">
            <a:avLst>
              <a:gd name="adj" fmla="val 8276"/>
            </a:avLst>
          </a:prstGeom>
          <a:solidFill>
            <a:schemeClr val="bg1"/>
          </a:solidFill>
          <a:ln w="12700">
            <a:solidFill>
              <a:schemeClr val="bg1"/>
            </a:solidFill>
            <a:prstDash val="solid"/>
          </a:ln>
        </p:spPr>
      </p:sp>
      <p:pic>
        <p:nvPicPr>
          <p:cNvPr id="22" name="QR icon" descr="preencoded.png">    </p:cNvPr>
          <p:cNvPicPr>
            <a:picLocks noChangeAspect="1"/>
          </p:cNvPicPr>
          <p:nvPr/>
        </p:nvPicPr>
        <p:blipFill>
          <a:blip r:embed="rId2"/>
          <a:stretch>
            <a:fillRect/>
          </a:stretch>
        </p:blipFill>
        <p:spPr>
          <a:xfrm>
            <a:off x="6766560" y="2286000"/>
            <a:ext cx="868680" cy="868680"/>
          </a:xfrm>
          <a:prstGeom prst="rect">
            <a:avLst/>
          </a:prstGeom>
        </p:spPr>
      </p:pic>
      <p:sp>
        <p:nvSpPr>
          <p:cNvPr id="23" name="QR note"/>
          <p:cNvSpPr txBox="1"/>
          <p:nvPr/>
        </p:nvSpPr>
        <p:spPr>
          <a:xfrm>
            <a:off x="5989320" y="3520440"/>
            <a:ext cx="2423160" cy="548640"/>
          </a:xfrm>
          <a:prstGeom prst="rect">
            <a:avLst/>
          </a:prstGeom>
          <a:noFill/>
          <a:ln/>
        </p:spPr>
        <p:txBody>
          <a:bodyPr wrap="square" lIns="0" tIns="0" rIns="0" bIns="0" rtlCol="0" anchor="ctr"/>
          <a:lstStyle/>
          <a:p>
            <a:pPr algn="ctr" indent="0" marL="0">
              <a:buNone/>
            </a:pPr>
            <a:r>
              <a:rPr lang="en-US" sz="1100" dirty="0">
                <a:solidFill>
                  <a:schemeClr val="accent6"/>
                </a:solidFill>
              </a:rPr>
              <a:t>Replace with QR code for [VIDEO_LINK]</a:t>
            </a:r>
            <a:endParaRPr lang="en-US" sz="1100" dirty="0"/>
          </a:p>
        </p:txBody>
      </p:sp>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AI reads. The pharmacist decides.</a:t>
            </a:r>
            <a:endParaRPr lang="en-US" sz="3000" dirty="0"/>
          </a:p>
        </p:txBody>
      </p:sp>
      <p:sp>
        <p:nvSpPr>
          <p:cNvPr id="3" name="Row 1 circle"/>
          <p:cNvSpPr/>
          <p:nvPr/>
        </p:nvSpPr>
        <p:spPr>
          <a:xfrm>
            <a:off x="548640" y="1234440"/>
            <a:ext cx="566928" cy="566928"/>
          </a:xfrm>
          <a:prstGeom prst="ellipse">
            <a:avLst/>
          </a:prstGeom>
          <a:solidFill>
            <a:schemeClr val="bg2"/>
          </a:solidFill>
          <a:ln w="12700">
            <a:solidFill>
              <a:schemeClr val="bg2"/>
            </a:solidFill>
            <a:prstDash val="solid"/>
          </a:ln>
        </p:spPr>
      </p:sp>
      <p:pic>
        <p:nvPicPr>
          <p:cNvPr id="4" name="Row 1 icon" descr="preencoded.png">    </p:cNvPr>
          <p:cNvPicPr>
            <a:picLocks noChangeAspect="1"/>
          </p:cNvPicPr>
          <p:nvPr/>
        </p:nvPicPr>
        <p:blipFill>
          <a:blip r:embed="rId1"/>
          <a:stretch>
            <a:fillRect/>
          </a:stretch>
        </p:blipFill>
        <p:spPr>
          <a:xfrm>
            <a:off x="676656" y="1362456"/>
            <a:ext cx="310896" cy="310896"/>
          </a:xfrm>
          <a:prstGeom prst="rect">
            <a:avLst/>
          </a:prstGeom>
        </p:spPr>
      </p:pic>
      <p:sp>
        <p:nvSpPr>
          <p:cNvPr id="5" name="Row 1 head"/>
          <p:cNvSpPr txBox="1"/>
          <p:nvPr/>
        </p:nvSpPr>
        <p:spPr>
          <a:xfrm>
            <a:off x="1280160" y="1197864"/>
            <a:ext cx="2743200" cy="310896"/>
          </a:xfrm>
          <a:prstGeom prst="rect">
            <a:avLst/>
          </a:prstGeom>
          <a:noFill/>
          <a:ln/>
        </p:spPr>
        <p:txBody>
          <a:bodyPr wrap="square" lIns="0" tIns="0" rIns="0" bIns="0" rtlCol="0" anchor="ctr"/>
          <a:lstStyle/>
          <a:p>
            <a:pPr indent="0" marL="0">
              <a:buNone/>
            </a:pPr>
            <a:r>
              <a:rPr lang="en-US" sz="1600" b="1" dirty="0">
                <a:solidFill>
                  <a:schemeClr val="tx1"/>
                </a:solidFill>
              </a:rPr>
              <a:t>Reads</a:t>
            </a:r>
            <a:endParaRPr lang="en-US" sz="1600" dirty="0"/>
          </a:p>
        </p:txBody>
      </p:sp>
      <p:sp>
        <p:nvSpPr>
          <p:cNvPr id="6" name="Row 1 body"/>
          <p:cNvSpPr txBox="1"/>
          <p:nvPr/>
        </p:nvSpPr>
        <p:spPr>
          <a:xfrm>
            <a:off x="1280160" y="1508760"/>
            <a:ext cx="2834640" cy="457200"/>
          </a:xfrm>
          <a:prstGeom prst="rect">
            <a:avLst/>
          </a:prstGeom>
          <a:noFill/>
          <a:ln/>
        </p:spPr>
        <p:txBody>
          <a:bodyPr wrap="square" lIns="0" tIns="0" rIns="0" bIns="0" rtlCol="0" anchor="t"/>
          <a:lstStyle/>
          <a:p>
            <a:pPr indent="0" marL="0">
              <a:buNone/>
            </a:pPr>
            <a:r>
              <a:rPr lang="en-US" sz="1200" dirty="0">
                <a:solidFill>
                  <a:schemeClr val="accent5"/>
                </a:solidFill>
              </a:rPr>
              <a:t>OCR and a local LLM extract every medication</a:t>
            </a:r>
            <a:endParaRPr lang="en-US" sz="1200" dirty="0"/>
          </a:p>
        </p:txBody>
      </p:sp>
      <p:sp>
        <p:nvSpPr>
          <p:cNvPr id="7" name="Row 2 circle"/>
          <p:cNvSpPr/>
          <p:nvPr/>
        </p:nvSpPr>
        <p:spPr>
          <a:xfrm>
            <a:off x="548640" y="2240280"/>
            <a:ext cx="566928" cy="566928"/>
          </a:xfrm>
          <a:prstGeom prst="ellipse">
            <a:avLst/>
          </a:prstGeom>
          <a:solidFill>
            <a:schemeClr val="bg2"/>
          </a:solidFill>
          <a:ln w="12700">
            <a:solidFill>
              <a:schemeClr val="bg2"/>
            </a:solidFill>
            <a:prstDash val="solid"/>
          </a:ln>
        </p:spPr>
      </p:sp>
      <p:pic>
        <p:nvPicPr>
          <p:cNvPr id="8" name="Row 2 icon" descr="preencoded.png">    </p:cNvPr>
          <p:cNvPicPr>
            <a:picLocks noChangeAspect="1"/>
          </p:cNvPicPr>
          <p:nvPr/>
        </p:nvPicPr>
        <p:blipFill>
          <a:blip r:embed="rId2"/>
          <a:stretch>
            <a:fillRect/>
          </a:stretch>
        </p:blipFill>
        <p:spPr>
          <a:xfrm>
            <a:off x="676656" y="2368296"/>
            <a:ext cx="310896" cy="310896"/>
          </a:xfrm>
          <a:prstGeom prst="rect">
            <a:avLst/>
          </a:prstGeom>
        </p:spPr>
      </p:pic>
      <p:sp>
        <p:nvSpPr>
          <p:cNvPr id="9" name="Row 2 head"/>
          <p:cNvSpPr txBox="1"/>
          <p:nvPr/>
        </p:nvSpPr>
        <p:spPr>
          <a:xfrm>
            <a:off x="1280160" y="2203704"/>
            <a:ext cx="2743200" cy="310896"/>
          </a:xfrm>
          <a:prstGeom prst="rect">
            <a:avLst/>
          </a:prstGeom>
          <a:noFill/>
          <a:ln/>
        </p:spPr>
        <p:txBody>
          <a:bodyPr wrap="square" lIns="0" tIns="0" rIns="0" bIns="0" rtlCol="0" anchor="ctr"/>
          <a:lstStyle/>
          <a:p>
            <a:pPr indent="0" marL="0">
              <a:buNone/>
            </a:pPr>
            <a:r>
              <a:rPr lang="en-US" sz="1600" b="1" dirty="0">
                <a:solidFill>
                  <a:schemeClr val="tx1"/>
                </a:solidFill>
              </a:rPr>
              <a:t>Verifies</a:t>
            </a:r>
            <a:endParaRPr lang="en-US" sz="1600" dirty="0"/>
          </a:p>
        </p:txBody>
      </p:sp>
      <p:sp>
        <p:nvSpPr>
          <p:cNvPr id="10" name="Row 2 body"/>
          <p:cNvSpPr txBox="1"/>
          <p:nvPr/>
        </p:nvSpPr>
        <p:spPr>
          <a:xfrm>
            <a:off x="1280160" y="2514600"/>
            <a:ext cx="2834640" cy="457200"/>
          </a:xfrm>
          <a:prstGeom prst="rect">
            <a:avLst/>
          </a:prstGeom>
          <a:noFill/>
          <a:ln/>
        </p:spPr>
        <p:txBody>
          <a:bodyPr wrap="square" lIns="0" tIns="0" rIns="0" bIns="0" rtlCol="0" anchor="t"/>
          <a:lstStyle/>
          <a:p>
            <a:pPr indent="0" marL="0">
              <a:buNone/>
            </a:pPr>
            <a:r>
              <a:rPr lang="en-US" sz="1200" dirty="0">
                <a:solidFill>
                  <a:schemeClr val="accent5"/>
                </a:solidFill>
              </a:rPr>
              <a:t>Every number must match the source exactly</a:t>
            </a:r>
            <a:endParaRPr lang="en-US" sz="1200" dirty="0"/>
          </a:p>
        </p:txBody>
      </p:sp>
      <p:sp>
        <p:nvSpPr>
          <p:cNvPr id="11" name="Row 3 circle"/>
          <p:cNvSpPr/>
          <p:nvPr/>
        </p:nvSpPr>
        <p:spPr>
          <a:xfrm>
            <a:off x="548640" y="3246120"/>
            <a:ext cx="566928" cy="566928"/>
          </a:xfrm>
          <a:prstGeom prst="ellipse">
            <a:avLst/>
          </a:prstGeom>
          <a:solidFill>
            <a:schemeClr val="bg2"/>
          </a:solidFill>
          <a:ln w="12700">
            <a:solidFill>
              <a:schemeClr val="bg2"/>
            </a:solidFill>
            <a:prstDash val="solid"/>
          </a:ln>
        </p:spPr>
      </p:sp>
      <p:pic>
        <p:nvPicPr>
          <p:cNvPr id="12" name="Row 3 icon" descr="preencoded.png">    </p:cNvPr>
          <p:cNvPicPr>
            <a:picLocks noChangeAspect="1"/>
          </p:cNvPicPr>
          <p:nvPr/>
        </p:nvPicPr>
        <p:blipFill>
          <a:blip r:embed="rId3"/>
          <a:stretch>
            <a:fillRect/>
          </a:stretch>
        </p:blipFill>
        <p:spPr>
          <a:xfrm>
            <a:off x="676656" y="3374136"/>
            <a:ext cx="310896" cy="310896"/>
          </a:xfrm>
          <a:prstGeom prst="rect">
            <a:avLst/>
          </a:prstGeom>
        </p:spPr>
      </p:pic>
      <p:sp>
        <p:nvSpPr>
          <p:cNvPr id="13" name="Row 3 head"/>
          <p:cNvSpPr txBox="1"/>
          <p:nvPr/>
        </p:nvSpPr>
        <p:spPr>
          <a:xfrm>
            <a:off x="1280160" y="3209544"/>
            <a:ext cx="2743200" cy="310896"/>
          </a:xfrm>
          <a:prstGeom prst="rect">
            <a:avLst/>
          </a:prstGeom>
          <a:noFill/>
          <a:ln/>
        </p:spPr>
        <p:txBody>
          <a:bodyPr wrap="square" lIns="0" tIns="0" rIns="0" bIns="0" rtlCol="0" anchor="ctr"/>
          <a:lstStyle/>
          <a:p>
            <a:pPr indent="0" marL="0">
              <a:buNone/>
            </a:pPr>
            <a:r>
              <a:rPr lang="en-US" sz="1600" b="1" dirty="0">
                <a:solidFill>
                  <a:schemeClr val="tx1"/>
                </a:solidFill>
              </a:rPr>
              <a:t>Never decides</a:t>
            </a:r>
            <a:endParaRPr lang="en-US" sz="1600" dirty="0"/>
          </a:p>
        </p:txBody>
      </p:sp>
      <p:sp>
        <p:nvSpPr>
          <p:cNvPr id="14" name="Row 3 body"/>
          <p:cNvSpPr txBox="1"/>
          <p:nvPr/>
        </p:nvSpPr>
        <p:spPr>
          <a:xfrm>
            <a:off x="1280160" y="3520440"/>
            <a:ext cx="2834640" cy="457200"/>
          </a:xfrm>
          <a:prstGeom prst="rect">
            <a:avLst/>
          </a:prstGeom>
          <a:noFill/>
          <a:ln/>
        </p:spPr>
        <p:txBody>
          <a:bodyPr wrap="square" lIns="0" tIns="0" rIns="0" bIns="0" rtlCol="0" anchor="t"/>
          <a:lstStyle/>
          <a:p>
            <a:pPr indent="0" marL="0">
              <a:buNone/>
            </a:pPr>
            <a:r>
              <a:rPr lang="en-US" sz="1200" dirty="0">
                <a:solidFill>
                  <a:schemeClr val="accent5"/>
                </a:solidFill>
              </a:rPr>
              <a:t>Rules flag mismatches; the pharmacist makes the call</a:t>
            </a:r>
            <a:endParaRPr lang="en-US" sz="1200" dirty="0"/>
          </a:p>
        </p:txBody>
      </p:sp>
      <p:sp>
        <p:nvSpPr>
          <p:cNvPr id="15" name="GB10 box"/>
          <p:cNvSpPr/>
          <p:nvPr/>
        </p:nvSpPr>
        <p:spPr>
          <a:xfrm>
            <a:off x="4389120" y="1143000"/>
            <a:ext cx="4206240" cy="3291840"/>
          </a:xfrm>
          <a:prstGeom prst="roundRect">
            <a:avLst>
              <a:gd name="adj" fmla="val 3333"/>
            </a:avLst>
          </a:prstGeom>
          <a:solidFill>
            <a:schemeClr val="tx1"/>
          </a:solidFill>
          <a:ln w="12700">
            <a:solidFill>
              <a:schemeClr val="tx1"/>
            </a:solidFill>
            <a:prstDash val="solid"/>
          </a:ln>
        </p:spPr>
      </p:sp>
      <p:sp>
        <p:nvSpPr>
          <p:cNvPr id="16" name="GB10 label"/>
          <p:cNvSpPr txBox="1"/>
          <p:nvPr/>
        </p:nvSpPr>
        <p:spPr>
          <a:xfrm>
            <a:off x="4617720" y="1261872"/>
            <a:ext cx="3749040" cy="274320"/>
          </a:xfrm>
          <a:prstGeom prst="rect">
            <a:avLst/>
          </a:prstGeom>
          <a:noFill/>
          <a:ln/>
        </p:spPr>
        <p:txBody>
          <a:bodyPr wrap="square" lIns="0" tIns="0" rIns="0" bIns="0" rtlCol="0" anchor="ctr"/>
          <a:lstStyle/>
          <a:p>
            <a:pPr indent="0" marL="0">
              <a:buNone/>
            </a:pPr>
            <a:r>
              <a:rPr lang="en-US" sz="1100" b="1" dirty="0">
                <a:solidFill>
                  <a:schemeClr val="accent6"/>
                </a:solidFill>
              </a:rPr>
              <a:t>DELL PRO MAX GB10  ·  FULLY OFFLINE</a:t>
            </a:r>
            <a:endParaRPr lang="en-US" sz="1100" dirty="0"/>
          </a:p>
        </p:txBody>
      </p:sp>
      <p:sp>
        <p:nvSpPr>
          <p:cNvPr id="17" name="Sandbox box"/>
          <p:cNvSpPr/>
          <p:nvPr/>
        </p:nvSpPr>
        <p:spPr>
          <a:xfrm>
            <a:off x="4617720" y="1627632"/>
            <a:ext cx="3749040" cy="2606040"/>
          </a:xfrm>
          <a:prstGeom prst="roundRect">
            <a:avLst>
              <a:gd name="adj" fmla="val 4211"/>
            </a:avLst>
          </a:prstGeom>
          <a:solidFill>
            <a:schemeClr val="tx2"/>
          </a:solidFill>
          <a:ln w="12700">
            <a:solidFill>
              <a:schemeClr val="tx2"/>
            </a:solidFill>
            <a:prstDash val="solid"/>
          </a:ln>
        </p:spPr>
      </p:sp>
      <p:pic>
        <p:nvPicPr>
          <p:cNvPr id="18" name="Lock icon" descr="preencoded.png">    </p:cNvPr>
          <p:cNvPicPr>
            <a:picLocks noChangeAspect="1"/>
          </p:cNvPicPr>
          <p:nvPr/>
        </p:nvPicPr>
        <p:blipFill>
          <a:blip r:embed="rId4"/>
          <a:stretch>
            <a:fillRect/>
          </a:stretch>
        </p:blipFill>
        <p:spPr>
          <a:xfrm>
            <a:off x="4800600" y="1755648"/>
            <a:ext cx="256032" cy="256032"/>
          </a:xfrm>
          <a:prstGeom prst="rect">
            <a:avLst/>
          </a:prstGeom>
        </p:spPr>
      </p:pic>
      <p:sp>
        <p:nvSpPr>
          <p:cNvPr id="19" name="Sandbox label"/>
          <p:cNvSpPr txBox="1"/>
          <p:nvPr/>
        </p:nvSpPr>
        <p:spPr>
          <a:xfrm>
            <a:off x="5138928" y="1737360"/>
            <a:ext cx="3108960" cy="292608"/>
          </a:xfrm>
          <a:prstGeom prst="rect">
            <a:avLst/>
          </a:prstGeom>
          <a:noFill/>
          <a:ln/>
        </p:spPr>
        <p:txBody>
          <a:bodyPr wrap="square" lIns="0" tIns="0" rIns="0" bIns="0" rtlCol="0" anchor="ctr"/>
          <a:lstStyle/>
          <a:p>
            <a:pPr indent="0" marL="0">
              <a:buNone/>
            </a:pPr>
            <a:r>
              <a:rPr lang="en-US" sz="1200" b="1" dirty="0">
                <a:solidFill>
                  <a:schemeClr val="bg1"/>
                </a:solidFill>
              </a:rPr>
              <a:t>NVIDIA OpenShell sandbox  ·  no internet</a:t>
            </a:r>
            <a:endParaRPr lang="en-US" sz="1200" dirty="0"/>
          </a:p>
        </p:txBody>
      </p:sp>
      <p:sp>
        <p:nvSpPr>
          <p:cNvPr id="20" name="Agent box"/>
          <p:cNvSpPr/>
          <p:nvPr/>
        </p:nvSpPr>
        <p:spPr>
          <a:xfrm>
            <a:off x="4846320" y="2194560"/>
            <a:ext cx="3291840" cy="1828800"/>
          </a:xfrm>
          <a:prstGeom prst="roundRect">
            <a:avLst>
              <a:gd name="adj" fmla="val 6000"/>
            </a:avLst>
          </a:prstGeom>
          <a:solidFill>
            <a:schemeClr val="accent1"/>
          </a:solidFill>
          <a:ln w="12700">
            <a:solidFill>
              <a:schemeClr val="accent1"/>
            </a:solidFill>
            <a:prstDash val="solid"/>
          </a:ln>
        </p:spPr>
      </p:sp>
      <p:pic>
        <p:nvPicPr>
          <p:cNvPr id="21" name="Agent icon" descr="preencoded.png">    </p:cNvPr>
          <p:cNvPicPr>
            <a:picLocks noChangeAspect="1"/>
          </p:cNvPicPr>
          <p:nvPr/>
        </p:nvPicPr>
        <p:blipFill>
          <a:blip r:embed="rId5"/>
          <a:stretch>
            <a:fillRect/>
          </a:stretch>
        </p:blipFill>
        <p:spPr>
          <a:xfrm>
            <a:off x="5029200" y="2359152"/>
            <a:ext cx="411480" cy="411480"/>
          </a:xfrm>
          <a:prstGeom prst="rect">
            <a:avLst/>
          </a:prstGeom>
        </p:spPr>
      </p:pic>
      <p:sp>
        <p:nvSpPr>
          <p:cNvPr id="22" name="Agent title"/>
          <p:cNvSpPr txBox="1"/>
          <p:nvPr/>
        </p:nvSpPr>
        <p:spPr>
          <a:xfrm>
            <a:off x="5577840" y="2331720"/>
            <a:ext cx="246888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OpenClaw agent</a:t>
            </a:r>
            <a:endParaRPr lang="en-US" sz="2000" dirty="0"/>
          </a:p>
        </p:txBody>
      </p:sp>
      <p:sp>
        <p:nvSpPr>
          <p:cNvPr id="23" name="Agent bullets"/>
          <p:cNvSpPr txBox="1"/>
          <p:nvPr/>
        </p:nvSpPr>
        <p:spPr>
          <a:xfrm>
            <a:off x="5074920" y="2880360"/>
            <a:ext cx="2971800" cy="1051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chemeClr val="bg1"/>
                </a:solidFill>
              </a:rPr>
              <a:t>Runs each case end to end</a:t>
            </a:r>
            <a:endParaRPr lang="en-US" sz="1200" dirty="0"/>
          </a:p>
          <a:p>
            <a:pPr marL="342900" indent="-342900">
              <a:spcAft>
                <a:spcPts val="400"/>
              </a:spcAft>
              <a:buSzPct val="100000"/>
              <a:buChar char="•"/>
            </a:pPr>
            <a:r>
              <a:rPr lang="en-US" sz="1200" dirty="0">
                <a:solidFill>
                  <a:schemeClr val="bg1"/>
                </a:solidFill>
              </a:rPr>
              <a:t>Patient data never leaves the machine</a:t>
            </a:r>
            <a:endParaRPr lang="en-US" sz="1200" dirty="0"/>
          </a:p>
          <a:p>
            <a:pPr marL="342900" indent="-342900">
              <a:spcAft>
                <a:spcPts val="400"/>
              </a:spcAft>
              <a:buSzPct val="100000"/>
              <a:buChar char="•"/>
            </a:pPr>
            <a:r>
              <a:rPr lang="en-US" sz="1200" dirty="0">
                <a:solidFill>
                  <a:schemeClr val="bg1"/>
                </a:solidFill>
              </a:rPr>
              <a:t>Explains every finding in plain English</a:t>
            </a:r>
            <a:endParaRPr lang="en-US" sz="1200" dirty="0"/>
          </a:p>
        </p:txBody>
      </p:sp>
      <p:sp>
        <p:nvSpPr>
          <p:cNvPr id="24" name="Source"/>
          <p:cNvSpPr txBox="1"/>
          <p:nvPr/>
        </p:nvSpPr>
        <p:spPr>
          <a:xfrm>
            <a:off x="3108960" y="4754880"/>
            <a:ext cx="5486400" cy="237744"/>
          </a:xfrm>
          <a:prstGeom prst="rect">
            <a:avLst/>
          </a:prstGeom>
          <a:noFill/>
          <a:ln/>
        </p:spPr>
        <p:txBody>
          <a:bodyPr wrap="square" lIns="0" tIns="0" rIns="0" bIns="0" rtlCol="0" anchor="ctr"/>
          <a:lstStyle/>
          <a:p>
            <a:pPr algn="r" indent="0" marL="0">
              <a:buNone/>
            </a:pPr>
            <a:r>
              <a:rPr lang="en-US" sz="1000" i="1" dirty="0">
                <a:solidFill>
                  <a:schemeClr val="accent5"/>
                </a:solidFill>
              </a:rPr>
              <a:t>Source: NVIDIA NemoClaw documentation</a:t>
            </a:r>
            <a:endParaRPr lang="en-US" sz="1000" dirty="0"/>
          </a:p>
        </p:txBody>
      </p:sp>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Results on synthetic test cases</a:t>
            </a:r>
            <a:endParaRPr lang="en-US" sz="3000" dirty="0"/>
          </a:p>
        </p:txBody>
      </p:sp>
      <p:sp>
        <p:nvSpPr>
          <p:cNvPr id="3" name="Caught tile"/>
          <p:cNvSpPr/>
          <p:nvPr/>
        </p:nvSpPr>
        <p:spPr>
          <a:xfrm>
            <a:off x="548640" y="1188720"/>
            <a:ext cx="2514600" cy="2148840"/>
          </a:xfrm>
          <a:prstGeom prst="roundRect">
            <a:avLst>
              <a:gd name="adj" fmla="val 5106"/>
            </a:avLst>
          </a:prstGeom>
          <a:solidFill>
            <a:schemeClr val="bg2"/>
          </a:solidFill>
          <a:ln w="12700">
            <a:solidFill>
              <a:schemeClr val="bg2"/>
            </a:solidFill>
            <a:prstDash val="solid"/>
          </a:ln>
        </p:spPr>
      </p:sp>
      <p:pic>
        <p:nvPicPr>
          <p:cNvPr id="4" name="Caught icon" descr="preencoded.png">    </p:cNvPr>
          <p:cNvPicPr>
            <a:picLocks noChangeAspect="1"/>
          </p:cNvPicPr>
          <p:nvPr/>
        </p:nvPicPr>
        <p:blipFill>
          <a:blip r:embed="rId1"/>
          <a:stretch>
            <a:fillRect/>
          </a:stretch>
        </p:blipFill>
        <p:spPr>
          <a:xfrm>
            <a:off x="1554480" y="1353312"/>
            <a:ext cx="502920" cy="502920"/>
          </a:xfrm>
          <a:prstGeom prst="rect">
            <a:avLst/>
          </a:prstGeom>
        </p:spPr>
      </p:pic>
      <p:sp>
        <p:nvSpPr>
          <p:cNvPr id="5" name="Caught value"/>
          <p:cNvSpPr txBox="1"/>
          <p:nvPr/>
        </p:nvSpPr>
        <p:spPr>
          <a:xfrm>
            <a:off x="685800" y="1901952"/>
            <a:ext cx="22402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20 of 25</a:t>
            </a:r>
            <a:endParaRPr lang="en-US" sz="4000" dirty="0"/>
          </a:p>
        </p:txBody>
      </p:sp>
      <p:sp>
        <p:nvSpPr>
          <p:cNvPr id="6" name="Caught label"/>
          <p:cNvSpPr txBox="1"/>
          <p:nvPr/>
        </p:nvSpPr>
        <p:spPr>
          <a:xfrm>
            <a:off x="685800" y="2651760"/>
            <a:ext cx="2240280" cy="274320"/>
          </a:xfrm>
          <a:prstGeom prst="rect">
            <a:avLst/>
          </a:prstGeom>
          <a:noFill/>
          <a:ln/>
        </p:spPr>
        <p:txBody>
          <a:bodyPr wrap="square" lIns="0" tIns="0" rIns="0" bIns="0" rtlCol="0" anchor="ctr"/>
          <a:lstStyle/>
          <a:p>
            <a:pPr algn="ctr" indent="0" marL="0">
              <a:buNone/>
            </a:pPr>
            <a:r>
              <a:rPr lang="en-US" sz="1400" b="1" dirty="0">
                <a:solidFill>
                  <a:schemeClr val="tx1"/>
                </a:solidFill>
              </a:rPr>
              <a:t>errors caught</a:t>
            </a:r>
            <a:endParaRPr lang="en-US" sz="1400" dirty="0"/>
          </a:p>
        </p:txBody>
      </p:sp>
      <p:sp>
        <p:nvSpPr>
          <p:cNvPr id="7" name="Caught sublabel"/>
          <p:cNvSpPr txBox="1"/>
          <p:nvPr/>
        </p:nvSpPr>
        <p:spPr>
          <a:xfrm>
            <a:off x="685800" y="2926080"/>
            <a:ext cx="2240280" cy="274320"/>
          </a:xfrm>
          <a:prstGeom prst="rect">
            <a:avLst/>
          </a:prstGeom>
          <a:noFill/>
          <a:ln/>
        </p:spPr>
        <p:txBody>
          <a:bodyPr wrap="square" lIns="0" tIns="0" rIns="0" bIns="0" rtlCol="0" anchor="ctr"/>
          <a:lstStyle/>
          <a:p>
            <a:pPr algn="ctr" indent="0" marL="0">
              <a:buNone/>
            </a:pPr>
            <a:r>
              <a:rPr lang="en-US" sz="1200" dirty="0">
                <a:solidFill>
                  <a:schemeClr val="accent5"/>
                </a:solidFill>
              </a:rPr>
              <a:t>across 37 cases</a:t>
            </a:r>
            <a:endParaRPr lang="en-US" sz="1200" dirty="0"/>
          </a:p>
        </p:txBody>
      </p:sp>
      <p:sp>
        <p:nvSpPr>
          <p:cNvPr id="8" name="False alarms tile"/>
          <p:cNvSpPr/>
          <p:nvPr/>
        </p:nvSpPr>
        <p:spPr>
          <a:xfrm>
            <a:off x="3310128" y="1188720"/>
            <a:ext cx="2514600" cy="2148840"/>
          </a:xfrm>
          <a:prstGeom prst="roundRect">
            <a:avLst>
              <a:gd name="adj" fmla="val 5106"/>
            </a:avLst>
          </a:prstGeom>
          <a:solidFill>
            <a:schemeClr val="bg2"/>
          </a:solidFill>
          <a:ln w="12700">
            <a:solidFill>
              <a:schemeClr val="bg2"/>
            </a:solidFill>
            <a:prstDash val="solid"/>
          </a:ln>
        </p:spPr>
      </p:sp>
      <p:pic>
        <p:nvPicPr>
          <p:cNvPr id="9" name="False alarms icon" descr="preencoded.png">    </p:cNvPr>
          <p:cNvPicPr>
            <a:picLocks noChangeAspect="1"/>
          </p:cNvPicPr>
          <p:nvPr/>
        </p:nvPicPr>
        <p:blipFill>
          <a:blip r:embed="rId2"/>
          <a:stretch>
            <a:fillRect/>
          </a:stretch>
        </p:blipFill>
        <p:spPr>
          <a:xfrm>
            <a:off x="4315968" y="1353312"/>
            <a:ext cx="502920" cy="502920"/>
          </a:xfrm>
          <a:prstGeom prst="rect">
            <a:avLst/>
          </a:prstGeom>
        </p:spPr>
      </p:pic>
      <p:sp>
        <p:nvSpPr>
          <p:cNvPr id="10" name="False alarms value"/>
          <p:cNvSpPr txBox="1"/>
          <p:nvPr/>
        </p:nvSpPr>
        <p:spPr>
          <a:xfrm>
            <a:off x="3447288" y="1901952"/>
            <a:ext cx="22402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0</a:t>
            </a:r>
            <a:endParaRPr lang="en-US" sz="4000" dirty="0"/>
          </a:p>
        </p:txBody>
      </p:sp>
      <p:sp>
        <p:nvSpPr>
          <p:cNvPr id="11" name="False alarms label"/>
          <p:cNvSpPr txBox="1"/>
          <p:nvPr/>
        </p:nvSpPr>
        <p:spPr>
          <a:xfrm>
            <a:off x="3447288" y="2651760"/>
            <a:ext cx="2240280" cy="274320"/>
          </a:xfrm>
          <a:prstGeom prst="rect">
            <a:avLst/>
          </a:prstGeom>
          <a:noFill/>
          <a:ln/>
        </p:spPr>
        <p:txBody>
          <a:bodyPr wrap="square" lIns="0" tIns="0" rIns="0" bIns="0" rtlCol="0" anchor="ctr"/>
          <a:lstStyle/>
          <a:p>
            <a:pPr algn="ctr" indent="0" marL="0">
              <a:buNone/>
            </a:pPr>
            <a:r>
              <a:rPr lang="en-US" sz="1400" b="1" dirty="0">
                <a:solidFill>
                  <a:schemeClr val="tx1"/>
                </a:solidFill>
              </a:rPr>
              <a:t>false alarms</a:t>
            </a:r>
            <a:endParaRPr lang="en-US" sz="1400" dirty="0"/>
          </a:p>
        </p:txBody>
      </p:sp>
      <p:sp>
        <p:nvSpPr>
          <p:cNvPr id="12" name="False alarms sublabel"/>
          <p:cNvSpPr txBox="1"/>
          <p:nvPr/>
        </p:nvSpPr>
        <p:spPr>
          <a:xfrm>
            <a:off x="3447288" y="2926080"/>
            <a:ext cx="2240280" cy="274320"/>
          </a:xfrm>
          <a:prstGeom prst="rect">
            <a:avLst/>
          </a:prstGeom>
          <a:noFill/>
          <a:ln/>
        </p:spPr>
        <p:txBody>
          <a:bodyPr wrap="square" lIns="0" tIns="0" rIns="0" bIns="0" rtlCol="0" anchor="ctr"/>
          <a:lstStyle/>
          <a:p>
            <a:pPr algn="ctr" indent="0" marL="0">
              <a:buNone/>
            </a:pPr>
            <a:r>
              <a:rPr lang="en-US" sz="1200" dirty="0">
                <a:solidFill>
                  <a:schemeClr val="accent5"/>
                </a:solidFill>
              </a:rPr>
              <a:t>on every clean case</a:t>
            </a:r>
            <a:endParaRPr lang="en-US" sz="1200" dirty="0"/>
          </a:p>
        </p:txBody>
      </p:sp>
      <p:sp>
        <p:nvSpPr>
          <p:cNvPr id="13" name="Misses tile"/>
          <p:cNvSpPr/>
          <p:nvPr/>
        </p:nvSpPr>
        <p:spPr>
          <a:xfrm>
            <a:off x="6080760" y="1188720"/>
            <a:ext cx="2514600" cy="2148840"/>
          </a:xfrm>
          <a:prstGeom prst="roundRect">
            <a:avLst>
              <a:gd name="adj" fmla="val 5106"/>
            </a:avLst>
          </a:prstGeom>
          <a:solidFill>
            <a:schemeClr val="bg2"/>
          </a:solidFill>
          <a:ln w="12700">
            <a:solidFill>
              <a:schemeClr val="bg2"/>
            </a:solidFill>
            <a:prstDash val="solid"/>
          </a:ln>
        </p:spPr>
      </p:sp>
      <p:pic>
        <p:nvPicPr>
          <p:cNvPr id="14" name="Misses icon" descr="preencoded.png">    </p:cNvPr>
          <p:cNvPicPr>
            <a:picLocks noChangeAspect="1"/>
          </p:cNvPicPr>
          <p:nvPr/>
        </p:nvPicPr>
        <p:blipFill>
          <a:blip r:embed="rId3"/>
          <a:stretch>
            <a:fillRect/>
          </a:stretch>
        </p:blipFill>
        <p:spPr>
          <a:xfrm>
            <a:off x="7086600" y="1353312"/>
            <a:ext cx="502920" cy="502920"/>
          </a:xfrm>
          <a:prstGeom prst="rect">
            <a:avLst/>
          </a:prstGeom>
        </p:spPr>
      </p:pic>
      <p:sp>
        <p:nvSpPr>
          <p:cNvPr id="15" name="Misses value"/>
          <p:cNvSpPr txBox="1"/>
          <p:nvPr/>
        </p:nvSpPr>
        <p:spPr>
          <a:xfrm>
            <a:off x="6217920" y="1901952"/>
            <a:ext cx="22402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5 of 5</a:t>
            </a:r>
            <a:endParaRPr lang="en-US" sz="4000" dirty="0"/>
          </a:p>
        </p:txBody>
      </p:sp>
      <p:sp>
        <p:nvSpPr>
          <p:cNvPr id="16" name="Misses label"/>
          <p:cNvSpPr txBox="1"/>
          <p:nvPr/>
        </p:nvSpPr>
        <p:spPr>
          <a:xfrm>
            <a:off x="6217920" y="2651760"/>
            <a:ext cx="2240280" cy="274320"/>
          </a:xfrm>
          <a:prstGeom prst="rect">
            <a:avLst/>
          </a:prstGeom>
          <a:noFill/>
          <a:ln/>
        </p:spPr>
        <p:txBody>
          <a:bodyPr wrap="square" lIns="0" tIns="0" rIns="0" bIns="0" rtlCol="0" anchor="ctr"/>
          <a:lstStyle/>
          <a:p>
            <a:pPr algn="ctr" indent="0" marL="0">
              <a:buNone/>
            </a:pPr>
            <a:r>
              <a:rPr lang="en-US" sz="1400" b="1" dirty="0">
                <a:solidFill>
                  <a:schemeClr val="tx1"/>
                </a:solidFill>
              </a:rPr>
              <a:t>misses on our roadmap</a:t>
            </a:r>
            <a:endParaRPr lang="en-US" sz="1400" dirty="0"/>
          </a:p>
        </p:txBody>
      </p:sp>
      <p:sp>
        <p:nvSpPr>
          <p:cNvPr id="17" name="Misses sublabel"/>
          <p:cNvSpPr txBox="1"/>
          <p:nvPr/>
        </p:nvSpPr>
        <p:spPr>
          <a:xfrm>
            <a:off x="6217920" y="2926080"/>
            <a:ext cx="2240280" cy="274320"/>
          </a:xfrm>
          <a:prstGeom prst="rect">
            <a:avLst/>
          </a:prstGeom>
          <a:noFill/>
          <a:ln/>
        </p:spPr>
        <p:txBody>
          <a:bodyPr wrap="square" lIns="0" tIns="0" rIns="0" bIns="0" rtlCol="0" anchor="ctr"/>
          <a:lstStyle/>
          <a:p>
            <a:pPr algn="ctr" indent="0" marL="0">
              <a:buNone/>
            </a:pPr>
            <a:r>
              <a:rPr lang="en-US" sz="1200" dirty="0">
                <a:solidFill>
                  <a:schemeClr val="accent5"/>
                </a:solidFill>
              </a:rPr>
              <a:t>home medication and frequency</a:t>
            </a:r>
            <a:endParaRPr lang="en-US" sz="1200" dirty="0"/>
          </a:p>
        </p:txBody>
      </p:sp>
      <p:sp>
        <p:nvSpPr>
          <p:cNvPr id="18" name="Coverage 1"/>
          <p:cNvSpPr txBox="1"/>
          <p:nvPr/>
        </p:nvSpPr>
        <p:spPr>
          <a:xfrm>
            <a:off x="548640" y="3611880"/>
            <a:ext cx="173736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18 synthetic cases</a:t>
            </a:r>
            <a:endParaRPr lang="en-US" sz="1200" dirty="0"/>
          </a:p>
        </p:txBody>
      </p:sp>
      <p:sp>
        <p:nvSpPr>
          <p:cNvPr id="19" name="Coverage 2"/>
          <p:cNvSpPr txBox="1"/>
          <p:nvPr/>
        </p:nvSpPr>
        <p:spPr>
          <a:xfrm>
            <a:off x="2468880" y="3611880"/>
            <a:ext cx="288036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19 cases built from Synthea records</a:t>
            </a:r>
            <a:endParaRPr lang="en-US" sz="1200" dirty="0"/>
          </a:p>
        </p:txBody>
      </p:sp>
      <p:sp>
        <p:nvSpPr>
          <p:cNvPr id="20" name="Coverage 3"/>
          <p:cNvSpPr txBox="1"/>
          <p:nvPr/>
        </p:nvSpPr>
        <p:spPr>
          <a:xfrm>
            <a:off x="5532120" y="3611880"/>
            <a:ext cx="251460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Text, PDF, and scanned images</a:t>
            </a:r>
            <a:endParaRPr lang="en-US" sz="1200" dirty="0"/>
          </a:p>
        </p:txBody>
      </p:sp>
      <p:sp>
        <p:nvSpPr>
          <p:cNvPr id="21" name="Scope"/>
          <p:cNvSpPr txBox="1"/>
          <p:nvPr/>
        </p:nvSpPr>
        <p:spPr>
          <a:xfrm>
            <a:off x="548640" y="4114800"/>
            <a:ext cx="8046720" cy="292608"/>
          </a:xfrm>
          <a:prstGeom prst="rect">
            <a:avLst/>
          </a:prstGeom>
          <a:noFill/>
          <a:ln/>
        </p:spPr>
        <p:txBody>
          <a:bodyPr wrap="square" lIns="0" tIns="0" rIns="0" bIns="0" rtlCol="0" anchor="ctr"/>
          <a:lstStyle/>
          <a:p>
            <a:pPr indent="0" marL="0">
              <a:buNone/>
            </a:pPr>
            <a:r>
              <a:rPr lang="en-US" sz="1400" b="1" dirty="0">
                <a:solidFill>
                  <a:schemeClr val="tx1"/>
                </a:solidFill>
              </a:rPr>
              <a:t>Today: discharge summary vs. prescription. Next: home medication list.</a:t>
            </a:r>
            <a:endParaRPr lang="en-US" sz="1400" dirty="0"/>
          </a:p>
        </p:txBody>
      </p:sp>
      <p:sp>
        <p:nvSpPr>
          <p:cNvPr id="22" name="Source"/>
          <p:cNvSpPr txBox="1"/>
          <p:nvPr/>
        </p:nvSpPr>
        <p:spPr>
          <a:xfrm>
            <a:off x="3108960" y="4754880"/>
            <a:ext cx="5486400" cy="237744"/>
          </a:xfrm>
          <a:prstGeom prst="rect">
            <a:avLst/>
          </a:prstGeom>
          <a:noFill/>
          <a:ln/>
        </p:spPr>
        <p:txBody>
          <a:bodyPr wrap="square" lIns="0" tIns="0" rIns="0" bIns="0" rtlCol="0" anchor="ctr"/>
          <a:lstStyle/>
          <a:p>
            <a:pPr algn="r" indent="0" marL="0">
              <a:buNone/>
            </a:pPr>
            <a:r>
              <a:rPr lang="en-US" sz="1000" i="1" dirty="0">
                <a:solidFill>
                  <a:schemeClr val="accent5"/>
                </a:solidFill>
              </a:rPr>
              <a:t>Measured with verified extractions; results with the live model on the GB10 in progress</a:t>
            </a:r>
            <a:endParaRPr lang="en-US" sz="1000" dirty="0"/>
          </a:p>
        </p:txBody>
      </p:sp>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lose 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Built for every place discharge paperwork lands</a:t>
            </a:r>
            <a:endParaRPr lang="en-US" sz="2800" dirty="0"/>
          </a:p>
        </p:txBody>
      </p:sp>
      <p:sp>
        <p:nvSpPr>
          <p:cNvPr id="3" name="Today card"/>
          <p:cNvSpPr/>
          <p:nvPr/>
        </p:nvSpPr>
        <p:spPr>
          <a:xfrm>
            <a:off x="548640" y="1143000"/>
            <a:ext cx="2514600" cy="2926080"/>
          </a:xfrm>
          <a:prstGeom prst="roundRect">
            <a:avLst>
              <a:gd name="adj" fmla="val 4364"/>
            </a:avLst>
          </a:prstGeom>
          <a:solidFill>
            <a:schemeClr val="tx2"/>
          </a:solidFill>
          <a:ln w="12700">
            <a:solidFill>
              <a:schemeClr val="tx2"/>
            </a:solidFill>
            <a:prstDash val="solid"/>
          </a:ln>
        </p:spPr>
      </p:sp>
      <p:sp>
        <p:nvSpPr>
          <p:cNvPr id="4" name="Today head"/>
          <p:cNvSpPr txBox="1"/>
          <p:nvPr/>
        </p:nvSpPr>
        <p:spPr>
          <a:xfrm>
            <a:off x="749808" y="1261872"/>
            <a:ext cx="2103120" cy="274320"/>
          </a:xfrm>
          <a:prstGeom prst="rect">
            <a:avLst/>
          </a:prstGeom>
          <a:noFill/>
          <a:ln/>
        </p:spPr>
        <p:txBody>
          <a:bodyPr wrap="square" lIns="0" tIns="0" rIns="0" bIns="0" rtlCol="0" anchor="ctr"/>
          <a:lstStyle/>
          <a:p>
            <a:pPr indent="0" marL="0">
              <a:buNone/>
            </a:pPr>
            <a:r>
              <a:rPr lang="en-US" sz="1100" b="1" dirty="0">
                <a:solidFill>
                  <a:schemeClr val="accent6"/>
                </a:solidFill>
              </a:rPr>
              <a:t>WHO IT'S FOR TODAY</a:t>
            </a:r>
            <a:endParaRPr lang="en-US" sz="1100" dirty="0"/>
          </a:p>
        </p:txBody>
      </p:sp>
      <p:sp>
        <p:nvSpPr>
          <p:cNvPr id="5" name="Who circle 1"/>
          <p:cNvSpPr/>
          <p:nvPr/>
        </p:nvSpPr>
        <p:spPr>
          <a:xfrm>
            <a:off x="749808" y="1691640"/>
            <a:ext cx="457200" cy="457200"/>
          </a:xfrm>
          <a:prstGeom prst="ellipse">
            <a:avLst/>
          </a:prstGeom>
          <a:solidFill>
            <a:schemeClr val="bg1"/>
          </a:solidFill>
          <a:ln w="12700">
            <a:solidFill>
              <a:schemeClr val="bg1"/>
            </a:solidFill>
            <a:prstDash val="solid"/>
          </a:ln>
        </p:spPr>
      </p:sp>
      <p:pic>
        <p:nvPicPr>
          <p:cNvPr id="6" name="Who icon 1" descr="preencoded.png">    </p:cNvPr>
          <p:cNvPicPr>
            <a:picLocks noChangeAspect="1"/>
          </p:cNvPicPr>
          <p:nvPr/>
        </p:nvPicPr>
        <p:blipFill>
          <a:blip r:embed="rId1"/>
          <a:stretch>
            <a:fillRect/>
          </a:stretch>
        </p:blipFill>
        <p:spPr>
          <a:xfrm>
            <a:off x="850392" y="1792224"/>
            <a:ext cx="256032" cy="256032"/>
          </a:xfrm>
          <a:prstGeom prst="rect">
            <a:avLst/>
          </a:prstGeom>
        </p:spPr>
      </p:pic>
      <p:sp>
        <p:nvSpPr>
          <p:cNvPr id="7" name="Who 1"/>
          <p:cNvSpPr txBox="1"/>
          <p:nvPr/>
        </p:nvSpPr>
        <p:spPr>
          <a:xfrm>
            <a:off x="1325880" y="1691640"/>
            <a:ext cx="1645920" cy="457200"/>
          </a:xfrm>
          <a:prstGeom prst="rect">
            <a:avLst/>
          </a:prstGeom>
          <a:noFill/>
          <a:ln/>
        </p:spPr>
        <p:txBody>
          <a:bodyPr wrap="square" lIns="0" tIns="0" rIns="0" bIns="0" rtlCol="0" anchor="ctr"/>
          <a:lstStyle/>
          <a:p>
            <a:pPr indent="0" marL="0">
              <a:buNone/>
            </a:pPr>
            <a:r>
              <a:rPr lang="en-US" sz="1500" b="1" dirty="0">
                <a:solidFill>
                  <a:schemeClr val="bg1"/>
                </a:solidFill>
              </a:rPr>
              <a:t>Nursing homes</a:t>
            </a:r>
            <a:endParaRPr lang="en-US" sz="1500" dirty="0"/>
          </a:p>
        </p:txBody>
      </p:sp>
      <p:sp>
        <p:nvSpPr>
          <p:cNvPr id="8" name="Who circle 2"/>
          <p:cNvSpPr/>
          <p:nvPr/>
        </p:nvSpPr>
        <p:spPr>
          <a:xfrm>
            <a:off x="749808" y="2377440"/>
            <a:ext cx="457200" cy="457200"/>
          </a:xfrm>
          <a:prstGeom prst="ellipse">
            <a:avLst/>
          </a:prstGeom>
          <a:solidFill>
            <a:schemeClr val="bg1"/>
          </a:solidFill>
          <a:ln w="12700">
            <a:solidFill>
              <a:schemeClr val="bg1"/>
            </a:solidFill>
            <a:prstDash val="solid"/>
          </a:ln>
        </p:spPr>
      </p:sp>
      <p:pic>
        <p:nvPicPr>
          <p:cNvPr id="9" name="Who icon 2" descr="preencoded.png">    </p:cNvPr>
          <p:cNvPicPr>
            <a:picLocks noChangeAspect="1"/>
          </p:cNvPicPr>
          <p:nvPr/>
        </p:nvPicPr>
        <p:blipFill>
          <a:blip r:embed="rId2"/>
          <a:stretch>
            <a:fillRect/>
          </a:stretch>
        </p:blipFill>
        <p:spPr>
          <a:xfrm>
            <a:off x="850392" y="2478024"/>
            <a:ext cx="256032" cy="256032"/>
          </a:xfrm>
          <a:prstGeom prst="rect">
            <a:avLst/>
          </a:prstGeom>
        </p:spPr>
      </p:pic>
      <p:sp>
        <p:nvSpPr>
          <p:cNvPr id="10" name="Who 2"/>
          <p:cNvSpPr txBox="1"/>
          <p:nvPr/>
        </p:nvSpPr>
        <p:spPr>
          <a:xfrm>
            <a:off x="1325880" y="2377440"/>
            <a:ext cx="1645920" cy="457200"/>
          </a:xfrm>
          <a:prstGeom prst="rect">
            <a:avLst/>
          </a:prstGeom>
          <a:noFill/>
          <a:ln/>
        </p:spPr>
        <p:txBody>
          <a:bodyPr wrap="square" lIns="0" tIns="0" rIns="0" bIns="0" rtlCol="0" anchor="ctr"/>
          <a:lstStyle/>
          <a:p>
            <a:pPr indent="0" marL="0">
              <a:buNone/>
            </a:pPr>
            <a:r>
              <a:rPr lang="en-US" sz="1500" b="1" dirty="0">
                <a:solidFill>
                  <a:schemeClr val="bg1"/>
                </a:solidFill>
              </a:rPr>
              <a:t>Pharmacies</a:t>
            </a:r>
            <a:endParaRPr lang="en-US" sz="1500" dirty="0"/>
          </a:p>
        </p:txBody>
      </p:sp>
      <p:sp>
        <p:nvSpPr>
          <p:cNvPr id="11" name="Who circle 3"/>
          <p:cNvSpPr/>
          <p:nvPr/>
        </p:nvSpPr>
        <p:spPr>
          <a:xfrm>
            <a:off x="749808" y="3063240"/>
            <a:ext cx="457200" cy="457200"/>
          </a:xfrm>
          <a:prstGeom prst="ellipse">
            <a:avLst/>
          </a:prstGeom>
          <a:solidFill>
            <a:schemeClr val="bg1"/>
          </a:solidFill>
          <a:ln w="12700">
            <a:solidFill>
              <a:schemeClr val="bg1"/>
            </a:solidFill>
            <a:prstDash val="solid"/>
          </a:ln>
        </p:spPr>
      </p:sp>
      <p:pic>
        <p:nvPicPr>
          <p:cNvPr id="12" name="Who icon 3" descr="preencoded.png">    </p:cNvPr>
          <p:cNvPicPr>
            <a:picLocks noChangeAspect="1"/>
          </p:cNvPicPr>
          <p:nvPr/>
        </p:nvPicPr>
        <p:blipFill>
          <a:blip r:embed="rId3"/>
          <a:stretch>
            <a:fillRect/>
          </a:stretch>
        </p:blipFill>
        <p:spPr>
          <a:xfrm>
            <a:off x="850392" y="3163824"/>
            <a:ext cx="256032" cy="256032"/>
          </a:xfrm>
          <a:prstGeom prst="rect">
            <a:avLst/>
          </a:prstGeom>
        </p:spPr>
      </p:pic>
      <p:sp>
        <p:nvSpPr>
          <p:cNvPr id="13" name="Who 3"/>
          <p:cNvSpPr txBox="1"/>
          <p:nvPr/>
        </p:nvSpPr>
        <p:spPr>
          <a:xfrm>
            <a:off x="1325880" y="3063240"/>
            <a:ext cx="1645920" cy="457200"/>
          </a:xfrm>
          <a:prstGeom prst="rect">
            <a:avLst/>
          </a:prstGeom>
          <a:noFill/>
          <a:ln/>
        </p:spPr>
        <p:txBody>
          <a:bodyPr wrap="square" lIns="0" tIns="0" rIns="0" bIns="0" rtlCol="0" anchor="ctr"/>
          <a:lstStyle/>
          <a:p>
            <a:pPr indent="0" marL="0">
              <a:buNone/>
            </a:pPr>
            <a:r>
              <a:rPr lang="en-US" sz="1500" b="1" dirty="0">
                <a:solidFill>
                  <a:schemeClr val="bg1"/>
                </a:solidFill>
              </a:rPr>
              <a:t>Small hospitals</a:t>
            </a:r>
            <a:endParaRPr lang="en-US" sz="1500" dirty="0"/>
          </a:p>
        </p:txBody>
      </p:sp>
      <p:sp>
        <p:nvSpPr>
          <p:cNvPr id="14" name="Scale card"/>
          <p:cNvSpPr/>
          <p:nvPr/>
        </p:nvSpPr>
        <p:spPr>
          <a:xfrm>
            <a:off x="3310128" y="1143000"/>
            <a:ext cx="2514600" cy="2926080"/>
          </a:xfrm>
          <a:prstGeom prst="roundRect">
            <a:avLst>
              <a:gd name="adj" fmla="val 4364"/>
            </a:avLst>
          </a:prstGeom>
          <a:solidFill>
            <a:schemeClr val="tx2"/>
          </a:solidFill>
          <a:ln w="12700">
            <a:solidFill>
              <a:schemeClr val="tx2"/>
            </a:solidFill>
            <a:prstDash val="solid"/>
          </a:ln>
        </p:spPr>
      </p:sp>
      <p:sp>
        <p:nvSpPr>
          <p:cNvPr id="15" name="Scale head"/>
          <p:cNvSpPr txBox="1"/>
          <p:nvPr/>
        </p:nvSpPr>
        <p:spPr>
          <a:xfrm>
            <a:off x="3511296" y="1261872"/>
            <a:ext cx="2103120" cy="274320"/>
          </a:xfrm>
          <a:prstGeom prst="rect">
            <a:avLst/>
          </a:prstGeom>
          <a:noFill/>
          <a:ln/>
        </p:spPr>
        <p:txBody>
          <a:bodyPr wrap="square" lIns="0" tIns="0" rIns="0" bIns="0" rtlCol="0" anchor="ctr"/>
          <a:lstStyle/>
          <a:p>
            <a:pPr indent="0" marL="0">
              <a:buNone/>
            </a:pPr>
            <a:r>
              <a:rPr lang="en-US" sz="1100" b="1" dirty="0">
                <a:solidFill>
                  <a:schemeClr val="accent6"/>
                </a:solidFill>
              </a:rPr>
              <a:t>ROOM TO SCALE</a:t>
            </a:r>
            <a:endParaRPr lang="en-US" sz="1100" dirty="0"/>
          </a:p>
        </p:txBody>
      </p:sp>
      <p:sp>
        <p:nvSpPr>
          <p:cNvPr id="16" name="Hospitals value"/>
          <p:cNvSpPr txBox="1"/>
          <p:nvPr/>
        </p:nvSpPr>
        <p:spPr>
          <a:xfrm>
            <a:off x="3511296" y="1600200"/>
            <a:ext cx="2103120" cy="5943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5,121</a:t>
            </a:r>
            <a:endParaRPr lang="en-US" sz="3600" dirty="0"/>
          </a:p>
        </p:txBody>
      </p:sp>
      <p:sp>
        <p:nvSpPr>
          <p:cNvPr id="17" name="Hospitals label"/>
          <p:cNvSpPr txBox="1"/>
          <p:nvPr/>
        </p:nvSpPr>
        <p:spPr>
          <a:xfrm>
            <a:off x="3511296" y="2194560"/>
            <a:ext cx="2148840" cy="502920"/>
          </a:xfrm>
          <a:prstGeom prst="rect">
            <a:avLst/>
          </a:prstGeom>
          <a:noFill/>
          <a:ln/>
        </p:spPr>
        <p:txBody>
          <a:bodyPr wrap="square" lIns="0" tIns="0" rIns="0" bIns="0" rtlCol="0" anchor="ctr"/>
          <a:lstStyle/>
          <a:p>
            <a:pPr indent="0" marL="0">
              <a:buNone/>
            </a:pPr>
            <a:r>
              <a:rPr lang="en-US" sz="1200" dirty="0">
                <a:solidFill>
                  <a:schemeClr val="accent6"/>
                </a:solidFill>
              </a:rPr>
              <a:t>US community hospitals, 1,797 of them rural</a:t>
            </a:r>
            <a:endParaRPr lang="en-US" sz="1200" dirty="0"/>
          </a:p>
        </p:txBody>
      </p:sp>
      <p:sp>
        <p:nvSpPr>
          <p:cNvPr id="18" name="Global line"/>
          <p:cNvSpPr txBox="1"/>
          <p:nvPr/>
        </p:nvSpPr>
        <p:spPr>
          <a:xfrm>
            <a:off x="3511296" y="2880360"/>
            <a:ext cx="2148840" cy="1005840"/>
          </a:xfrm>
          <a:prstGeom prst="rect">
            <a:avLst/>
          </a:prstGeom>
          <a:noFill/>
          <a:ln/>
        </p:spPr>
        <p:txBody>
          <a:bodyPr wrap="square" lIns="0" tIns="0" rIns="0" bIns="0" rtlCol="0" anchor="t"/>
          <a:lstStyle/>
          <a:p>
            <a:pPr indent="0" marL="0">
              <a:buNone/>
            </a:pPr>
            <a:r>
              <a:rPr lang="en-US" sz="1300" dirty="0">
                <a:solidFill>
                  <a:schemeClr val="bg1"/>
                </a:solidFill>
              </a:rPr>
              <a:t>Works on documents from any system, so it can extend across health systems and countries</a:t>
            </a:r>
            <a:endParaRPr lang="en-US" sz="1300" dirty="0"/>
          </a:p>
        </p:txBody>
      </p:sp>
      <p:sp>
        <p:nvSpPr>
          <p:cNvPr id="19" name="Future card"/>
          <p:cNvSpPr/>
          <p:nvPr/>
        </p:nvSpPr>
        <p:spPr>
          <a:xfrm>
            <a:off x="6080760" y="1143000"/>
            <a:ext cx="2514600" cy="2926080"/>
          </a:xfrm>
          <a:prstGeom prst="roundRect">
            <a:avLst>
              <a:gd name="adj" fmla="val 4364"/>
            </a:avLst>
          </a:prstGeom>
          <a:solidFill>
            <a:schemeClr val="tx2"/>
          </a:solidFill>
          <a:ln w="12700">
            <a:solidFill>
              <a:schemeClr val="tx2"/>
            </a:solidFill>
            <a:prstDash val="solid"/>
          </a:ln>
        </p:spPr>
      </p:sp>
      <p:sp>
        <p:nvSpPr>
          <p:cNvPr id="20" name="Future head"/>
          <p:cNvSpPr txBox="1"/>
          <p:nvPr/>
        </p:nvSpPr>
        <p:spPr>
          <a:xfrm>
            <a:off x="6281928" y="1261872"/>
            <a:ext cx="2103120" cy="274320"/>
          </a:xfrm>
          <a:prstGeom prst="rect">
            <a:avLst/>
          </a:prstGeom>
          <a:noFill/>
          <a:ln/>
        </p:spPr>
        <p:txBody>
          <a:bodyPr wrap="square" lIns="0" tIns="0" rIns="0" bIns="0" rtlCol="0" anchor="ctr"/>
          <a:lstStyle/>
          <a:p>
            <a:pPr indent="0" marL="0">
              <a:buNone/>
            </a:pPr>
            <a:r>
              <a:rPr lang="en-US" sz="1100" b="1" dirty="0">
                <a:solidFill>
                  <a:schemeClr val="accent6"/>
                </a:solidFill>
              </a:rPr>
              <a:t>FUTURE SCOPE</a:t>
            </a:r>
            <a:endParaRPr lang="en-US" sz="1100" dirty="0"/>
          </a:p>
        </p:txBody>
      </p:sp>
      <p:sp>
        <p:nvSpPr>
          <p:cNvPr id="21" name="Roadmap"/>
          <p:cNvSpPr txBox="1"/>
          <p:nvPr/>
        </p:nvSpPr>
        <p:spPr>
          <a:xfrm>
            <a:off x="6281928" y="1645920"/>
            <a:ext cx="2148840" cy="22402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bg1"/>
                </a:solidFill>
              </a:rPr>
              <a:t>Home medication list and frequency checks</a:t>
            </a:r>
            <a:endParaRPr lang="en-US" sz="1300" dirty="0"/>
          </a:p>
          <a:p>
            <a:pPr marL="342900" indent="-342900">
              <a:spcAft>
                <a:spcPts val="1000"/>
              </a:spcAft>
              <a:buSzPct val="100000"/>
              <a:buChar char="•"/>
            </a:pPr>
            <a:r>
              <a:rPr lang="en-US" sz="1300" dirty="0">
                <a:solidFill>
                  <a:schemeClr val="bg1"/>
                </a:solidFill>
              </a:rPr>
              <a:t>Recognize intentional changes</a:t>
            </a:r>
            <a:endParaRPr lang="en-US" sz="1300" dirty="0"/>
          </a:p>
          <a:p>
            <a:pPr marL="342900" indent="-342900">
              <a:spcAft>
                <a:spcPts val="1000"/>
              </a:spcAft>
              <a:buSzPct val="100000"/>
              <a:buChar char="•"/>
            </a:pPr>
            <a:r>
              <a:rPr lang="en-US" sz="1300" dirty="0">
                <a:solidFill>
                  <a:schemeClr val="bg1"/>
                </a:solidFill>
              </a:rPr>
              <a:t>Real-data validation, handwriting, and FHIR</a:t>
            </a:r>
            <a:endParaRPr lang="en-US" sz="1300" dirty="0"/>
          </a:p>
        </p:txBody>
      </p:sp>
      <p:sp>
        <p:nvSpPr>
          <p:cNvPr id="22" name="Value line"/>
          <p:cNvSpPr txBox="1"/>
          <p:nvPr/>
        </p:nvSpPr>
        <p:spPr>
          <a:xfrm>
            <a:off x="548640" y="4206240"/>
            <a:ext cx="8046720" cy="320040"/>
          </a:xfrm>
          <a:prstGeom prst="rect">
            <a:avLst/>
          </a:prstGeom>
          <a:noFill/>
          <a:ln/>
        </p:spPr>
        <p:txBody>
          <a:bodyPr wrap="square" lIns="0" tIns="0" rIns="0" bIns="0" rtlCol="0" anchor="ctr"/>
          <a:lstStyle/>
          <a:p>
            <a:pPr indent="0" marL="0">
              <a:buNone/>
            </a:pPr>
            <a:r>
              <a:rPr lang="en-US" sz="1400" dirty="0">
                <a:solidFill>
                  <a:schemeClr val="accent6"/>
                </a:solidFill>
              </a:rPr>
              <a:t>In one pilot, </a:t>
            </a:r>
            <a:pPr indent="0" marL="0">
              <a:buNone/>
            </a:pPr>
            <a:r>
              <a:rPr lang="en-US" sz="1400" b="1" dirty="0">
                <a:solidFill>
                  <a:schemeClr val="bg1"/>
                </a:solidFill>
              </a:rPr>
              <a:t>pharmacist discharge review avoided ~$67,000 for $816 of pharmacist time</a:t>
            </a:r>
            <a:endParaRPr lang="en-US" sz="1400" dirty="0"/>
          </a:p>
        </p:txBody>
      </p:sp>
      <p:sp>
        <p:nvSpPr>
          <p:cNvPr id="23" name="GitHub"/>
          <p:cNvSpPr txBox="1"/>
          <p:nvPr/>
        </p:nvSpPr>
        <p:spPr>
          <a:xfrm>
            <a:off x="548640" y="4754880"/>
            <a:ext cx="2743200" cy="237744"/>
          </a:xfrm>
          <a:prstGeom prst="rect">
            <a:avLst/>
          </a:prstGeom>
          <a:noFill/>
          <a:ln/>
        </p:spPr>
        <p:txBody>
          <a:bodyPr wrap="square" lIns="0" tIns="0" rIns="0" bIns="0" rtlCol="0" anchor="ctr"/>
          <a:lstStyle/>
          <a:p>
            <a:pPr indent="0" marL="0">
              <a:buNone/>
            </a:pPr>
            <a:r>
              <a:rPr lang="en-US" sz="1000" dirty="0">
                <a:solidFill>
                  <a:schemeClr val="accent6"/>
                </a:solidFill>
              </a:rPr>
              <a:t>GitHub: [GITHUB_LINK]</a:t>
            </a:r>
            <a:endParaRPr lang="en-US" sz="1000" dirty="0"/>
          </a:p>
        </p:txBody>
      </p:sp>
      <p:sp>
        <p:nvSpPr>
          <p:cNvPr id="24" name="Source"/>
          <p:cNvSpPr txBox="1"/>
          <p:nvPr/>
        </p:nvSpPr>
        <p:spPr>
          <a:xfrm>
            <a:off x="3108960" y="4754880"/>
            <a:ext cx="5486400" cy="237744"/>
          </a:xfrm>
          <a:prstGeom prst="rect">
            <a:avLst/>
          </a:prstGeom>
          <a:noFill/>
          <a:ln/>
        </p:spPr>
        <p:txBody>
          <a:bodyPr wrap="square" lIns="0" tIns="0" rIns="0" bIns="0" rtlCol="0" anchor="ctr"/>
          <a:lstStyle/>
          <a:p>
            <a:pPr algn="r" indent="0" marL="0">
              <a:buNone/>
            </a:pPr>
            <a:r>
              <a:rPr lang="en-US" sz="1000" i="1" dirty="0">
                <a:solidFill>
                  <a:schemeClr val="accent6"/>
                </a:solidFill>
              </a:rPr>
              <a:t>Sources: AHA Fast Facts on US Hospitals 2026; UC Davis Health pilot, SHM Converge 2024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References</a:t>
            </a:r>
            <a:endParaRPr lang="en-US" sz="3000" dirty="0"/>
          </a:p>
        </p:txBody>
      </p:sp>
      <p:sp>
        <p:nvSpPr>
          <p:cNvPr id="3" name="Ref 1 card"/>
          <p:cNvSpPr/>
          <p:nvPr/>
        </p:nvSpPr>
        <p:spPr>
          <a:xfrm>
            <a:off x="548640" y="1097280"/>
            <a:ext cx="3931920" cy="777240"/>
          </a:xfrm>
          <a:prstGeom prst="roundRect">
            <a:avLst>
              <a:gd name="adj" fmla="val 14118"/>
            </a:avLst>
          </a:prstGeom>
          <a:solidFill>
            <a:schemeClr val="bg2"/>
          </a:solidFill>
          <a:ln w="12700">
            <a:solidFill>
              <a:schemeClr val="bg2"/>
            </a:solidFill>
            <a:prstDash val="solid"/>
          </a:ln>
        </p:spPr>
      </p:sp>
      <p:sp>
        <p:nvSpPr>
          <p:cNvPr id="4" name="Ref 1 number"/>
          <p:cNvSpPr txBox="1"/>
          <p:nvPr/>
        </p:nvSpPr>
        <p:spPr>
          <a:xfrm>
            <a:off x="685800" y="128930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Ref 1 title"/>
          <p:cNvSpPr txBox="1"/>
          <p:nvPr/>
        </p:nvSpPr>
        <p:spPr>
          <a:xfrm>
            <a:off x="1207008" y="1170432"/>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Post-discharge medication errors (review)</a:t>
            </a:r>
            <a:endParaRPr lang="en-US" sz="1200" dirty="0"/>
          </a:p>
        </p:txBody>
      </p:sp>
      <p:sp>
        <p:nvSpPr>
          <p:cNvPr id="6" name="Ref 1 source"/>
          <p:cNvSpPr txBox="1"/>
          <p:nvPr/>
        </p:nvSpPr>
        <p:spPr>
          <a:xfrm>
            <a:off x="1207008" y="1481328"/>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Alqenae et al., Drug Safety, 2020   </a:t>
            </a:r>
            <a:pPr indent="0" marL="0">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link.springer.com</a:t>
            </a:r>
            <a:endParaRPr lang="en-US" sz="1100" dirty="0"/>
          </a:p>
        </p:txBody>
      </p:sp>
      <p:sp>
        <p:nvSpPr>
          <p:cNvPr id="7" name="Ref 2 card"/>
          <p:cNvSpPr/>
          <p:nvPr/>
        </p:nvSpPr>
        <p:spPr>
          <a:xfrm>
            <a:off x="548640" y="1993392"/>
            <a:ext cx="3931920" cy="777240"/>
          </a:xfrm>
          <a:prstGeom prst="roundRect">
            <a:avLst>
              <a:gd name="adj" fmla="val 14118"/>
            </a:avLst>
          </a:prstGeom>
          <a:solidFill>
            <a:schemeClr val="bg2"/>
          </a:solidFill>
          <a:ln w="12700">
            <a:solidFill>
              <a:schemeClr val="bg2"/>
            </a:solidFill>
            <a:prstDash val="solid"/>
          </a:ln>
        </p:spPr>
      </p:sp>
      <p:sp>
        <p:nvSpPr>
          <p:cNvPr id="8" name="Ref 2 number"/>
          <p:cNvSpPr txBox="1"/>
          <p:nvPr/>
        </p:nvSpPr>
        <p:spPr>
          <a:xfrm>
            <a:off x="685800" y="218541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Ref 2 title"/>
          <p:cNvSpPr txBox="1"/>
          <p:nvPr/>
        </p:nvSpPr>
        <p:spPr>
          <a:xfrm>
            <a:off x="1207008" y="2066544"/>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Discrepancies and emergency visits</a:t>
            </a:r>
            <a:endParaRPr lang="en-US" sz="1200" dirty="0"/>
          </a:p>
        </p:txBody>
      </p:sp>
      <p:sp>
        <p:nvSpPr>
          <p:cNvPr id="10" name="Ref 2 source"/>
          <p:cNvSpPr txBox="1"/>
          <p:nvPr/>
        </p:nvSpPr>
        <p:spPr>
          <a:xfrm>
            <a:off x="1207008" y="2377440"/>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BMC Geriatrics, 2024   </a:t>
            </a:r>
            <a:pPr indent="0" marL="0">
              <a:buNone/>
            </a:pPr>
            <a:r>
              <a:rPr lang="en-US" sz="11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ncbi.nlm.nih.gov</a:t>
            </a:r>
            <a:endParaRPr lang="en-US" sz="1100" dirty="0"/>
          </a:p>
        </p:txBody>
      </p:sp>
      <p:sp>
        <p:nvSpPr>
          <p:cNvPr id="11" name="Ref 3 card"/>
          <p:cNvSpPr/>
          <p:nvPr/>
        </p:nvSpPr>
        <p:spPr>
          <a:xfrm>
            <a:off x="548640" y="2889504"/>
            <a:ext cx="3931920" cy="777240"/>
          </a:xfrm>
          <a:prstGeom prst="roundRect">
            <a:avLst>
              <a:gd name="adj" fmla="val 14118"/>
            </a:avLst>
          </a:prstGeom>
          <a:solidFill>
            <a:schemeClr val="bg2"/>
          </a:solidFill>
          <a:ln w="12700">
            <a:solidFill>
              <a:schemeClr val="bg2"/>
            </a:solidFill>
            <a:prstDash val="solid"/>
          </a:ln>
        </p:spPr>
      </p:sp>
      <p:sp>
        <p:nvSpPr>
          <p:cNvPr id="12" name="Ref 3 number"/>
          <p:cNvSpPr txBox="1"/>
          <p:nvPr/>
        </p:nvSpPr>
        <p:spPr>
          <a:xfrm>
            <a:off x="685800" y="308152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Ref 3 title"/>
          <p:cNvSpPr txBox="1"/>
          <p:nvPr/>
        </p:nvSpPr>
        <p:spPr>
          <a:xfrm>
            <a:off x="1207008" y="2962656"/>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National Patient Safety Goals, NPSG.03.06.01</a:t>
            </a:r>
            <a:endParaRPr lang="en-US" sz="1200" dirty="0"/>
          </a:p>
        </p:txBody>
      </p:sp>
      <p:sp>
        <p:nvSpPr>
          <p:cNvPr id="14" name="Ref 3 source"/>
          <p:cNvSpPr txBox="1"/>
          <p:nvPr/>
        </p:nvSpPr>
        <p:spPr>
          <a:xfrm>
            <a:off x="1207008" y="3273552"/>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The Joint Commission, 2026   </a:t>
            </a:r>
            <a:pPr indent="0" marL="0">
              <a:buNone/>
            </a:pPr>
            <a:r>
              <a:rPr lang="en-US" sz="11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jointcommission.org</a:t>
            </a:r>
            <a:endParaRPr lang="en-US" sz="1100" dirty="0"/>
          </a:p>
        </p:txBody>
      </p:sp>
      <p:sp>
        <p:nvSpPr>
          <p:cNvPr id="15" name="Ref 4 card"/>
          <p:cNvSpPr/>
          <p:nvPr/>
        </p:nvSpPr>
        <p:spPr>
          <a:xfrm>
            <a:off x="548640" y="3785616"/>
            <a:ext cx="3931920" cy="777240"/>
          </a:xfrm>
          <a:prstGeom prst="roundRect">
            <a:avLst>
              <a:gd name="adj" fmla="val 14118"/>
            </a:avLst>
          </a:prstGeom>
          <a:solidFill>
            <a:schemeClr val="bg2"/>
          </a:solidFill>
          <a:ln w="12700">
            <a:solidFill>
              <a:schemeClr val="bg2"/>
            </a:solidFill>
            <a:prstDash val="solid"/>
          </a:ln>
        </p:spPr>
      </p:sp>
      <p:sp>
        <p:nvSpPr>
          <p:cNvPr id="16" name="Ref 4 number"/>
          <p:cNvSpPr txBox="1"/>
          <p:nvPr/>
        </p:nvSpPr>
        <p:spPr>
          <a:xfrm>
            <a:off x="685800" y="397764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Ref 4 title"/>
          <p:cNvSpPr txBox="1"/>
          <p:nvPr/>
        </p:nvSpPr>
        <p:spPr>
          <a:xfrm>
            <a:off x="1207008" y="3858768"/>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Pharmacist discharge review pilot</a:t>
            </a:r>
            <a:endParaRPr lang="en-US" sz="1200" dirty="0"/>
          </a:p>
        </p:txBody>
      </p:sp>
      <p:sp>
        <p:nvSpPr>
          <p:cNvPr id="18" name="Ref 4 source"/>
          <p:cNvSpPr txBox="1"/>
          <p:nvPr/>
        </p:nvSpPr>
        <p:spPr>
          <a:xfrm>
            <a:off x="1207008" y="4169664"/>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UC Davis Health, SHM 2024   </a:t>
            </a:r>
            <a:pPr indent="0" marL="0">
              <a:buNone/>
            </a:pPr>
            <a:r>
              <a:rPr lang="en-US" sz="11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shmabstracts.org</a:t>
            </a:r>
            <a:endParaRPr lang="en-US" sz="1100" dirty="0"/>
          </a:p>
        </p:txBody>
      </p:sp>
      <p:sp>
        <p:nvSpPr>
          <p:cNvPr id="19" name="Ref 5 card"/>
          <p:cNvSpPr/>
          <p:nvPr/>
        </p:nvSpPr>
        <p:spPr>
          <a:xfrm>
            <a:off x="4663440" y="1097280"/>
            <a:ext cx="3931920" cy="777240"/>
          </a:xfrm>
          <a:prstGeom prst="roundRect">
            <a:avLst>
              <a:gd name="adj" fmla="val 14118"/>
            </a:avLst>
          </a:prstGeom>
          <a:solidFill>
            <a:schemeClr val="bg2"/>
          </a:solidFill>
          <a:ln w="12700">
            <a:solidFill>
              <a:schemeClr val="bg2"/>
            </a:solidFill>
            <a:prstDash val="solid"/>
          </a:ln>
        </p:spPr>
      </p:sp>
      <p:sp>
        <p:nvSpPr>
          <p:cNvPr id="20" name="Ref 5 number"/>
          <p:cNvSpPr txBox="1"/>
          <p:nvPr/>
        </p:nvSpPr>
        <p:spPr>
          <a:xfrm>
            <a:off x="4800600" y="128930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Ref 5 title"/>
          <p:cNvSpPr txBox="1"/>
          <p:nvPr/>
        </p:nvSpPr>
        <p:spPr>
          <a:xfrm>
            <a:off x="5321808" y="1170432"/>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Fast Facts on US Hospitals</a:t>
            </a:r>
            <a:endParaRPr lang="en-US" sz="1200" dirty="0"/>
          </a:p>
        </p:txBody>
      </p:sp>
      <p:sp>
        <p:nvSpPr>
          <p:cNvPr id="22" name="Ref 5 source"/>
          <p:cNvSpPr txBox="1"/>
          <p:nvPr/>
        </p:nvSpPr>
        <p:spPr>
          <a:xfrm>
            <a:off x="5321808" y="1481328"/>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American Hospital Association, 2026   </a:t>
            </a:r>
            <a:pPr indent="0" marL="0">
              <a:buNone/>
            </a:pPr>
            <a:r>
              <a:rPr lang="en-US" sz="11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aha.org</a:t>
            </a:r>
            <a:endParaRPr lang="en-US" sz="1100" dirty="0"/>
          </a:p>
        </p:txBody>
      </p:sp>
      <p:sp>
        <p:nvSpPr>
          <p:cNvPr id="23" name="Ref 6 card"/>
          <p:cNvSpPr/>
          <p:nvPr/>
        </p:nvSpPr>
        <p:spPr>
          <a:xfrm>
            <a:off x="4663440" y="1993392"/>
            <a:ext cx="3931920" cy="777240"/>
          </a:xfrm>
          <a:prstGeom prst="roundRect">
            <a:avLst>
              <a:gd name="adj" fmla="val 14118"/>
            </a:avLst>
          </a:prstGeom>
          <a:solidFill>
            <a:schemeClr val="bg2"/>
          </a:solidFill>
          <a:ln w="12700">
            <a:solidFill>
              <a:schemeClr val="bg2"/>
            </a:solidFill>
            <a:prstDash val="solid"/>
          </a:ln>
        </p:spPr>
      </p:sp>
      <p:sp>
        <p:nvSpPr>
          <p:cNvPr id="24" name="Ref 6 number"/>
          <p:cNvSpPr txBox="1"/>
          <p:nvPr/>
        </p:nvSpPr>
        <p:spPr>
          <a:xfrm>
            <a:off x="4800600" y="218541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5" name="Ref 6 title"/>
          <p:cNvSpPr txBox="1"/>
          <p:nvPr/>
        </p:nvSpPr>
        <p:spPr>
          <a:xfrm>
            <a:off x="5321808" y="2066544"/>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NemoClaw, OpenShell, OpenClaw docs</a:t>
            </a:r>
            <a:endParaRPr lang="en-US" sz="1200" dirty="0"/>
          </a:p>
        </p:txBody>
      </p:sp>
      <p:sp>
        <p:nvSpPr>
          <p:cNvPr id="26" name="Ref 6 source"/>
          <p:cNvSpPr txBox="1"/>
          <p:nvPr/>
        </p:nvSpPr>
        <p:spPr>
          <a:xfrm>
            <a:off x="5321808" y="2377440"/>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NVIDIA   </a:t>
            </a:r>
            <a:pPr indent="0" marL="0">
              <a:buNone/>
            </a:pPr>
            <a:r>
              <a:rPr lang="en-US" sz="11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docs.nvidia.com</a:t>
            </a:r>
            <a:endParaRPr lang="en-US" sz="1100" dirty="0"/>
          </a:p>
        </p:txBody>
      </p:sp>
      <p:sp>
        <p:nvSpPr>
          <p:cNvPr id="27" name="Ref 7 card"/>
          <p:cNvSpPr/>
          <p:nvPr/>
        </p:nvSpPr>
        <p:spPr>
          <a:xfrm>
            <a:off x="4663440" y="2889504"/>
            <a:ext cx="3931920" cy="777240"/>
          </a:xfrm>
          <a:prstGeom prst="roundRect">
            <a:avLst>
              <a:gd name="adj" fmla="val 14118"/>
            </a:avLst>
          </a:prstGeom>
          <a:solidFill>
            <a:schemeClr val="bg2"/>
          </a:solidFill>
          <a:ln w="12700">
            <a:solidFill>
              <a:schemeClr val="bg2"/>
            </a:solidFill>
            <a:prstDash val="solid"/>
          </a:ln>
        </p:spPr>
      </p:sp>
      <p:sp>
        <p:nvSpPr>
          <p:cNvPr id="28" name="Ref 7 number"/>
          <p:cNvSpPr txBox="1"/>
          <p:nvPr/>
        </p:nvSpPr>
        <p:spPr>
          <a:xfrm>
            <a:off x="4800600" y="308152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9" name="Ref 7 title"/>
          <p:cNvSpPr txBox="1"/>
          <p:nvPr/>
        </p:nvSpPr>
        <p:spPr>
          <a:xfrm>
            <a:off x="5321808" y="2962656"/>
            <a:ext cx="3154680" cy="274320"/>
          </a:xfrm>
          <a:prstGeom prst="rect">
            <a:avLst/>
          </a:prstGeom>
          <a:noFill/>
          <a:ln/>
        </p:spPr>
        <p:txBody>
          <a:bodyPr wrap="square" lIns="0" tIns="0" rIns="0" bIns="0" rtlCol="0" anchor="ctr"/>
          <a:lstStyle/>
          <a:p>
            <a:pPr indent="0" marL="0">
              <a:buNone/>
            </a:pPr>
            <a:r>
              <a:rPr lang="en-US" sz="1200" b="1" dirty="0">
                <a:solidFill>
                  <a:schemeClr val="tx1"/>
                </a:solidFill>
              </a:rPr>
              <a:t>Synthea synthetic patient data</a:t>
            </a:r>
            <a:endParaRPr lang="en-US" sz="1200" dirty="0"/>
          </a:p>
        </p:txBody>
      </p:sp>
      <p:sp>
        <p:nvSpPr>
          <p:cNvPr id="30" name="Ref 7 source"/>
          <p:cNvSpPr txBox="1"/>
          <p:nvPr/>
        </p:nvSpPr>
        <p:spPr>
          <a:xfrm>
            <a:off x="5321808" y="3273552"/>
            <a:ext cx="3154680" cy="292608"/>
          </a:xfrm>
          <a:prstGeom prst="rect">
            <a:avLst/>
          </a:prstGeom>
          <a:noFill/>
          <a:ln/>
        </p:spPr>
        <p:txBody>
          <a:bodyPr wrap="square" lIns="0" tIns="0" rIns="0" bIns="0" rtlCol="0" anchor="ctr"/>
          <a:lstStyle/>
          <a:p>
            <a:pPr indent="0" marL="0">
              <a:buNone/>
            </a:pPr>
            <a:r>
              <a:rPr lang="en-US" sz="1100" dirty="0">
                <a:solidFill>
                  <a:schemeClr val="accent5"/>
                </a:solidFill>
              </a:rPr>
              <a:t>MITRE   </a:t>
            </a:r>
            <a:pPr indent="0" marL="0">
              <a:buNone/>
            </a:pPr>
            <a:r>
              <a:rPr lang="en-US" sz="11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synthea.mitre.org</a:t>
            </a:r>
            <a:endParaRPr lang="en-US" sz="1100" dirty="0"/>
          </a:p>
        </p:txBody>
      </p:sp>
      <p:sp>
        <p:nvSpPr>
          <p:cNvPr id="25" name="Slide Number Placeholder 0"/>
          <p:cNvSpPr>
            <a:spLocks noGrp="1"/>
          </p:cNvSpPr>
          <p:nvPr>
            <p:ph type="sldNum" sz="quarter" idx="4294967295"/>
          </p:nvPr>
        </p:nvSpPr>
        <p:spPr>
          <a:xfrm>
            <a:off x="548640" y="4773168"/>
            <a:ext cx="36576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criptGuard Clinical">
  <a:themeElements>
    <a:clrScheme name="ScriptGuard Clinical">
      <a:dk1>
        <a:srgbClr val="14213D"/>
      </a:dk1>
      <a:lt1>
        <a:srgbClr val="FFFFFF"/>
      </a:lt1>
      <a:dk2>
        <a:srgbClr val="0E3B43"/>
      </a:dk2>
      <a:lt2>
        <a:srgbClr val="EEF4F5"/>
      </a:lt2>
      <a:accent1>
        <a:srgbClr val="0F7C80"/>
      </a:accent1>
      <a:accent2>
        <a:srgbClr val="C8323C"/>
      </a:accent2>
      <a:accent3>
        <a:srgbClr val="2E8B57"/>
      </a:accent3>
      <a:accent4>
        <a:srgbClr val="D98E04"/>
      </a:accent4>
      <a:accent5>
        <a:srgbClr val="5B6B73"/>
      </a:accent5>
      <a:accent6>
        <a:srgbClr val="9FD3D6"/>
      </a:accent6>
      <a:hlink>
        <a:srgbClr val="0F7C80"/>
      </a:hlink>
      <a:folHlink>
        <a:srgbClr val="0E3B43"/>
      </a:folHlink>
    </a:clrScheme>
    <a:fontScheme name="ScriptGuard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ScriptGuard</dc:title>
  <dc:subject>PptxGenJS Presentation</dc:subject>
  <dc:creator>PptxGenJS</dc:creator>
  <cp:lastModifiedBy>PptxGenJS</cp:lastModifiedBy>
  <cp:revision>1</cp:revision>
  <dcterms:created xsi:type="dcterms:W3CDTF">2026-10-03T22:47:42Z</dcterms:created>
  <dcterms:modified xsi:type="dcterms:W3CDTF">2026-10-03T22:47:42Z</dcterms:modified>
</cp:coreProperties>
</file>